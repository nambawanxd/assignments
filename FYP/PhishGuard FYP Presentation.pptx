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Light" charset="1" panose="00000400000000000000"/>
      <p:regular r:id="rId22"/>
    </p:embeddedFont>
    <p:embeddedFont>
      <p:font typeface="Poppins Bold" charset="1" panose="00000800000000000000"/>
      <p:regular r:id="rId23"/>
    </p:embeddedFont>
    <p:embeddedFont>
      <p:font typeface="Poppins"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 Id="rId5"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 Id="rId5"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 Id="rId5"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sp>
        <p:nvSpPr>
          <p:cNvPr name="TextBox 2" id="2"/>
          <p:cNvSpPr txBox="true"/>
          <p:nvPr/>
        </p:nvSpPr>
        <p:spPr>
          <a:xfrm rot="0">
            <a:off x="1028700" y="6760591"/>
            <a:ext cx="7537463" cy="1275969"/>
          </a:xfrm>
          <a:prstGeom prst="rect">
            <a:avLst/>
          </a:prstGeom>
        </p:spPr>
        <p:txBody>
          <a:bodyPr anchor="t" rtlCol="false" tIns="0" lIns="0" bIns="0" rIns="0">
            <a:spAutoFit/>
          </a:bodyPr>
          <a:lstStyle/>
          <a:p>
            <a:pPr algn="l" marL="0" indent="0" lvl="0">
              <a:lnSpc>
                <a:spcPts val="2507"/>
              </a:lnSpc>
            </a:pPr>
            <a:r>
              <a:rPr lang="en-US" sz="1899">
                <a:solidFill>
                  <a:srgbClr val="FCFCFC"/>
                </a:solidFill>
                <a:latin typeface="Poppins Light"/>
                <a:ea typeface="Poppins Light"/>
                <a:cs typeface="Poppins Light"/>
                <a:sym typeface="Poppins Light"/>
              </a:rPr>
              <a:t>Development of a Browser Extension for Phishing Website and Email Detection Using Supervised Learning</a:t>
            </a:r>
          </a:p>
          <a:p>
            <a:pPr algn="l" marL="0" indent="0" lvl="0">
              <a:lnSpc>
                <a:spcPts val="2507"/>
              </a:lnSpc>
            </a:pPr>
            <a:r>
              <a:rPr lang="en-US" sz="1899">
                <a:solidFill>
                  <a:srgbClr val="FCFCFC"/>
                </a:solidFill>
                <a:latin typeface="Poppins Light"/>
                <a:ea typeface="Poppins Light"/>
                <a:cs typeface="Poppins Light"/>
                <a:sym typeface="Poppins Light"/>
              </a:rPr>
              <a:t>B.Sc. (Hons) Computer Science — Specialism in Cyber Security</a:t>
            </a:r>
          </a:p>
          <a:p>
            <a:pPr algn="l" marL="0" indent="0" lvl="0">
              <a:lnSpc>
                <a:spcPts val="2507"/>
              </a:lnSpc>
            </a:pPr>
            <a:r>
              <a:rPr lang="en-US" sz="1899">
                <a:solidFill>
                  <a:srgbClr val="FCFCFC"/>
                </a:solidFill>
                <a:latin typeface="Poppins Light"/>
                <a:ea typeface="Poppins Light"/>
                <a:cs typeface="Poppins Light"/>
                <a:sym typeface="Poppins Light"/>
              </a:rPr>
              <a:t>Asia Pacific University of Technology and Innovation</a:t>
            </a:r>
          </a:p>
        </p:txBody>
      </p:sp>
      <p:sp>
        <p:nvSpPr>
          <p:cNvPr name="TextBox 3" id="3"/>
          <p:cNvSpPr txBox="true"/>
          <p:nvPr/>
        </p:nvSpPr>
        <p:spPr>
          <a:xfrm rot="0">
            <a:off x="1028700" y="8546211"/>
            <a:ext cx="7355745" cy="574167"/>
          </a:xfrm>
          <a:prstGeom prst="rect">
            <a:avLst/>
          </a:prstGeom>
        </p:spPr>
        <p:txBody>
          <a:bodyPr anchor="t" rtlCol="false" tIns="0" lIns="0" bIns="0" rIns="0">
            <a:spAutoFit/>
          </a:bodyPr>
          <a:lstStyle/>
          <a:p>
            <a:pPr algn="l" marL="0" indent="0" lvl="0">
              <a:lnSpc>
                <a:spcPts val="2243"/>
              </a:lnSpc>
            </a:pPr>
            <a:r>
              <a:rPr lang="en-US" sz="1699">
                <a:solidFill>
                  <a:srgbClr val="FCFCFC"/>
                </a:solidFill>
                <a:latin typeface="Poppins Light"/>
                <a:ea typeface="Poppins Light"/>
                <a:cs typeface="Poppins Light"/>
                <a:sym typeface="Poppins Light"/>
              </a:rPr>
              <a:t>Hemanthrajah A/L N Krishnarajah  •  TP070844</a:t>
            </a:r>
          </a:p>
          <a:p>
            <a:pPr algn="l" marL="0" indent="0" lvl="0">
              <a:lnSpc>
                <a:spcPts val="2243"/>
              </a:lnSpc>
            </a:pPr>
            <a:r>
              <a:rPr lang="en-US" sz="1699">
                <a:solidFill>
                  <a:srgbClr val="FCFCFC"/>
                </a:solidFill>
                <a:latin typeface="Poppins Light"/>
                <a:ea typeface="Poppins Light"/>
                <a:cs typeface="Poppins Light"/>
                <a:sym typeface="Poppins Light"/>
              </a:rPr>
              <a:t>FYP Defence Presentation</a:t>
            </a:r>
          </a:p>
        </p:txBody>
      </p:sp>
      <p:sp>
        <p:nvSpPr>
          <p:cNvPr name="TextBox 4" id="4"/>
          <p:cNvSpPr txBox="true"/>
          <p:nvPr/>
        </p:nvSpPr>
        <p:spPr>
          <a:xfrm rot="0">
            <a:off x="1028700" y="3492516"/>
            <a:ext cx="7537463" cy="2877406"/>
          </a:xfrm>
          <a:prstGeom prst="rect">
            <a:avLst/>
          </a:prstGeom>
        </p:spPr>
        <p:txBody>
          <a:bodyPr anchor="t" rtlCol="false" tIns="0" lIns="0" bIns="0" rIns="0">
            <a:spAutoFit/>
          </a:bodyPr>
          <a:lstStyle/>
          <a:p>
            <a:pPr algn="l" marL="0" indent="0" lvl="0">
              <a:lnSpc>
                <a:spcPts val="5525"/>
              </a:lnSpc>
            </a:pPr>
            <a:r>
              <a:rPr lang="en-US" b="true" sz="5941" spc="-59">
                <a:solidFill>
                  <a:srgbClr val="FCFCFC"/>
                </a:solidFill>
                <a:latin typeface="Poppins Bold"/>
                <a:ea typeface="Poppins Bold"/>
                <a:cs typeface="Poppins Bold"/>
                <a:sym typeface="Poppins Bold"/>
              </a:rPr>
              <a:t>PHISHGUARD</a:t>
            </a:r>
          </a:p>
          <a:p>
            <a:pPr algn="l" marL="0" indent="0" lvl="0">
              <a:lnSpc>
                <a:spcPts val="5525"/>
              </a:lnSpc>
            </a:pPr>
            <a:r>
              <a:rPr lang="en-US" b="true" sz="5941" spc="-59">
                <a:solidFill>
                  <a:srgbClr val="FCFCFC"/>
                </a:solidFill>
                <a:latin typeface="Poppins Bold"/>
                <a:ea typeface="Poppins Bold"/>
                <a:cs typeface="Poppins Bold"/>
                <a:sym typeface="Poppins Bold"/>
              </a:rPr>
              <a:t>FINAL YEAR PROJECT</a:t>
            </a:r>
          </a:p>
          <a:p>
            <a:pPr algn="l" marL="0" indent="0" lvl="0">
              <a:lnSpc>
                <a:spcPts val="5525"/>
              </a:lnSpc>
            </a:pPr>
            <a:r>
              <a:rPr lang="en-US" b="true" sz="5941" spc="-59">
                <a:solidFill>
                  <a:srgbClr val="FCFCFC"/>
                </a:solidFill>
                <a:latin typeface="Poppins Bold"/>
                <a:ea typeface="Poppins Bold"/>
                <a:cs typeface="Poppins Bold"/>
                <a:sym typeface="Poppins Bold"/>
              </a:rPr>
              <a:t>PRESENTATION</a:t>
            </a:r>
          </a:p>
        </p:txBody>
      </p:sp>
      <p:sp>
        <p:nvSpPr>
          <p:cNvPr name="Freeform 5" id="5"/>
          <p:cNvSpPr/>
          <p:nvPr/>
        </p:nvSpPr>
        <p:spPr>
          <a:xfrm flipH="false" flipV="false" rot="0">
            <a:off x="9761774" y="1539025"/>
            <a:ext cx="7321317" cy="8518670"/>
          </a:xfrm>
          <a:custGeom>
            <a:avLst/>
            <a:gdLst/>
            <a:ahLst/>
            <a:cxnLst/>
            <a:rect r="r" b="b" t="t" l="l"/>
            <a:pathLst>
              <a:path h="8518670" w="7321317">
                <a:moveTo>
                  <a:pt x="0" y="0"/>
                </a:moveTo>
                <a:lnTo>
                  <a:pt x="7321317" y="0"/>
                </a:lnTo>
                <a:lnTo>
                  <a:pt x="7321317" y="8518671"/>
                </a:lnTo>
                <a:lnTo>
                  <a:pt x="0" y="8518671"/>
                </a:lnTo>
                <a:lnTo>
                  <a:pt x="0" y="0"/>
                </a:lnTo>
                <a:close/>
              </a:path>
            </a:pathLst>
          </a:custGeom>
          <a:blipFill>
            <a:blip r:embed="rId2"/>
            <a:stretch>
              <a:fillRect l="0" t="0" r="0" b="0"/>
            </a:stretch>
          </a:blipFill>
        </p:spPr>
      </p:sp>
      <p:grpSp>
        <p:nvGrpSpPr>
          <p:cNvPr name="Group 6" id="6"/>
          <p:cNvGrpSpPr/>
          <p:nvPr/>
        </p:nvGrpSpPr>
        <p:grpSpPr>
          <a:xfrm rot="0">
            <a:off x="1028700" y="1028700"/>
            <a:ext cx="2391678" cy="510325"/>
            <a:chOff x="0" y="0"/>
            <a:chExt cx="629907" cy="134407"/>
          </a:xfrm>
        </p:grpSpPr>
        <p:sp>
          <p:nvSpPr>
            <p:cNvPr name="Freeform 7" id="7"/>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8" id="8"/>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9" id="9"/>
          <p:cNvSpPr txBox="true"/>
          <p:nvPr/>
        </p:nvSpPr>
        <p:spPr>
          <a:xfrm rot="0">
            <a:off x="1344378" y="1093938"/>
            <a:ext cx="1760322" cy="354161"/>
          </a:xfrm>
          <a:prstGeom prst="rect">
            <a:avLst/>
          </a:prstGeom>
        </p:spPr>
        <p:txBody>
          <a:bodyPr anchor="t" rtlCol="false" tIns="0" lIns="0" bIns="0" rIns="0">
            <a:spAutoFit/>
          </a:bodyPr>
          <a:lstStyle/>
          <a:p>
            <a:pPr algn="ctr" marL="0" indent="0" lvl="0">
              <a:lnSpc>
                <a:spcPts val="1322"/>
              </a:lnSpc>
            </a:pPr>
            <a:r>
              <a:rPr lang="en-US" sz="1363" spc="-27">
                <a:solidFill>
                  <a:srgbClr val="FCFCFC"/>
                </a:solidFill>
                <a:latin typeface="Poppins"/>
                <a:ea typeface="Poppins"/>
                <a:cs typeface="Poppins"/>
                <a:sym typeface="Poppins"/>
              </a:rPr>
              <a:t>Asia Pacific University</a:t>
            </a:r>
          </a:p>
        </p:txBody>
      </p:sp>
      <p:grpSp>
        <p:nvGrpSpPr>
          <p:cNvPr name="Group 10" id="10"/>
          <p:cNvGrpSpPr/>
          <p:nvPr/>
        </p:nvGrpSpPr>
        <p:grpSpPr>
          <a:xfrm rot="0">
            <a:off x="12968711" y="161481"/>
            <a:ext cx="2391678" cy="510325"/>
            <a:chOff x="0" y="0"/>
            <a:chExt cx="629907" cy="134407"/>
          </a:xfrm>
        </p:grpSpPr>
        <p:sp>
          <p:nvSpPr>
            <p:cNvPr name="Freeform 11" id="11"/>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2" id="12"/>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3" id="13"/>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sp>
        <p:nvSpPr>
          <p:cNvPr name="Freeform 14" id="14"/>
          <p:cNvSpPr/>
          <p:nvPr/>
        </p:nvSpPr>
        <p:spPr>
          <a:xfrm flipH="false" flipV="false" rot="0">
            <a:off x="17057458" y="8448509"/>
            <a:ext cx="1745231" cy="955117"/>
          </a:xfrm>
          <a:custGeom>
            <a:avLst/>
            <a:gdLst/>
            <a:ahLst/>
            <a:cxnLst/>
            <a:rect r="r" b="b" t="t" l="l"/>
            <a:pathLst>
              <a:path h="955117" w="1745231">
                <a:moveTo>
                  <a:pt x="0" y="0"/>
                </a:moveTo>
                <a:lnTo>
                  <a:pt x="1745230" y="0"/>
                </a:lnTo>
                <a:lnTo>
                  <a:pt x="1745230" y="955118"/>
                </a:lnTo>
                <a:lnTo>
                  <a:pt x="0" y="9551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8016543" y="551141"/>
            <a:ext cx="1745231" cy="955117"/>
          </a:xfrm>
          <a:custGeom>
            <a:avLst/>
            <a:gdLst/>
            <a:ahLst/>
            <a:cxnLst/>
            <a:rect r="r" b="b" t="t" l="l"/>
            <a:pathLst>
              <a:path h="955117" w="1745231">
                <a:moveTo>
                  <a:pt x="0" y="0"/>
                </a:moveTo>
                <a:lnTo>
                  <a:pt x="1745231" y="0"/>
                </a:lnTo>
                <a:lnTo>
                  <a:pt x="1745231" y="955118"/>
                </a:lnTo>
                <a:lnTo>
                  <a:pt x="0" y="9551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183256" y="5376291"/>
            <a:ext cx="1745231" cy="955117"/>
          </a:xfrm>
          <a:custGeom>
            <a:avLst/>
            <a:gdLst/>
            <a:ahLst/>
            <a:cxnLst/>
            <a:rect r="r" b="b" t="t" l="l"/>
            <a:pathLst>
              <a:path h="955117" w="1745231">
                <a:moveTo>
                  <a:pt x="0" y="0"/>
                </a:moveTo>
                <a:lnTo>
                  <a:pt x="1745231" y="0"/>
                </a:lnTo>
                <a:lnTo>
                  <a:pt x="1745231" y="955118"/>
                </a:lnTo>
                <a:lnTo>
                  <a:pt x="0" y="9551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1028700" y="5970433"/>
            <a:ext cx="6436011" cy="1543127"/>
            <a:chOff x="0" y="0"/>
            <a:chExt cx="1822467" cy="436963"/>
          </a:xfrm>
        </p:grpSpPr>
        <p:sp>
          <p:nvSpPr>
            <p:cNvPr name="Freeform 3" id="3"/>
            <p:cNvSpPr/>
            <p:nvPr/>
          </p:nvSpPr>
          <p:spPr>
            <a:xfrm flipH="false" flipV="false" rot="0">
              <a:off x="0" y="0"/>
              <a:ext cx="1822467" cy="436963"/>
            </a:xfrm>
            <a:custGeom>
              <a:avLst/>
              <a:gdLst/>
              <a:ahLst/>
              <a:cxnLst/>
              <a:rect r="r" b="b" t="t" l="l"/>
              <a:pathLst>
                <a:path h="436963" w="1822467">
                  <a:moveTo>
                    <a:pt x="33681" y="0"/>
                  </a:moveTo>
                  <a:lnTo>
                    <a:pt x="1788786" y="0"/>
                  </a:lnTo>
                  <a:cubicBezTo>
                    <a:pt x="1807387" y="0"/>
                    <a:pt x="1822467" y="15080"/>
                    <a:pt x="1822467" y="33681"/>
                  </a:cubicBezTo>
                  <a:lnTo>
                    <a:pt x="1822467" y="403282"/>
                  </a:lnTo>
                  <a:cubicBezTo>
                    <a:pt x="1822467" y="421883"/>
                    <a:pt x="1807387" y="436963"/>
                    <a:pt x="1788786" y="436963"/>
                  </a:cubicBezTo>
                  <a:lnTo>
                    <a:pt x="33681" y="436963"/>
                  </a:lnTo>
                  <a:cubicBezTo>
                    <a:pt x="15080" y="436963"/>
                    <a:pt x="0" y="421883"/>
                    <a:pt x="0" y="403282"/>
                  </a:cubicBezTo>
                  <a:lnTo>
                    <a:pt x="0" y="33681"/>
                  </a:lnTo>
                  <a:cubicBezTo>
                    <a:pt x="0" y="15080"/>
                    <a:pt x="15080" y="0"/>
                    <a:pt x="33681" y="0"/>
                  </a:cubicBezTo>
                  <a:close/>
                </a:path>
              </a:pathLst>
            </a:custGeom>
            <a:solidFill>
              <a:srgbClr val="343434"/>
            </a:solidFill>
            <a:ln cap="rnd">
              <a:noFill/>
              <a:prstDash val="solid"/>
              <a:round/>
            </a:ln>
          </p:spPr>
        </p:sp>
        <p:sp>
          <p:nvSpPr>
            <p:cNvPr name="TextBox 4" id="4"/>
            <p:cNvSpPr txBox="true"/>
            <p:nvPr/>
          </p:nvSpPr>
          <p:spPr>
            <a:xfrm>
              <a:off x="0" y="19050"/>
              <a:ext cx="1822467" cy="417913"/>
            </a:xfrm>
            <a:prstGeom prst="rect">
              <a:avLst/>
            </a:prstGeom>
          </p:spPr>
          <p:txBody>
            <a:bodyPr anchor="ctr" rtlCol="false" tIns="50800" lIns="50800" bIns="50800" rIns="50800"/>
            <a:lstStyle/>
            <a:p>
              <a:pPr algn="ctr" marL="0" indent="0" lvl="0">
                <a:lnSpc>
                  <a:spcPts val="1543"/>
                </a:lnSpc>
              </a:pPr>
            </a:p>
          </p:txBody>
        </p:sp>
      </p:grpSp>
      <p:grpSp>
        <p:nvGrpSpPr>
          <p:cNvPr name="Group 5" id="5"/>
          <p:cNvGrpSpPr/>
          <p:nvPr/>
        </p:nvGrpSpPr>
        <p:grpSpPr>
          <a:xfrm rot="0">
            <a:off x="1028700" y="1028700"/>
            <a:ext cx="2391678" cy="510325"/>
            <a:chOff x="0" y="0"/>
            <a:chExt cx="629907" cy="134407"/>
          </a:xfrm>
        </p:grpSpPr>
        <p:sp>
          <p:nvSpPr>
            <p:cNvPr name="Freeform 6" id="6"/>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7" id="7"/>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Freeform 8" id="8"/>
          <p:cNvSpPr/>
          <p:nvPr/>
        </p:nvSpPr>
        <p:spPr>
          <a:xfrm flipH="false" flipV="false" rot="0">
            <a:off x="17259300" y="5283325"/>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5356034" y="58390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9355267" y="2157052"/>
            <a:ext cx="7904033" cy="7904033"/>
          </a:xfrm>
          <a:custGeom>
            <a:avLst/>
            <a:gdLst/>
            <a:ahLst/>
            <a:cxnLst/>
            <a:rect r="r" b="b" t="t" l="l"/>
            <a:pathLst>
              <a:path h="7904033" w="7904033">
                <a:moveTo>
                  <a:pt x="0" y="0"/>
                </a:moveTo>
                <a:lnTo>
                  <a:pt x="7904033" y="0"/>
                </a:lnTo>
                <a:lnTo>
                  <a:pt x="7904033" y="7904033"/>
                </a:lnTo>
                <a:lnTo>
                  <a:pt x="0" y="7904033"/>
                </a:lnTo>
                <a:lnTo>
                  <a:pt x="0" y="0"/>
                </a:lnTo>
                <a:close/>
              </a:path>
            </a:pathLst>
          </a:custGeom>
          <a:blipFill>
            <a:blip r:embed="rId4"/>
            <a:stretch>
              <a:fillRect l="0" t="0" r="0" b="0"/>
            </a:stretch>
          </a:blipFill>
        </p:spPr>
      </p:sp>
      <p:sp>
        <p:nvSpPr>
          <p:cNvPr name="Freeform 12" id="12"/>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sp>
        <p:nvSpPr>
          <p:cNvPr name="TextBox 13" id="13"/>
          <p:cNvSpPr txBox="true"/>
          <p:nvPr/>
        </p:nvSpPr>
        <p:spPr>
          <a:xfrm rot="0">
            <a:off x="1028700" y="2914083"/>
            <a:ext cx="6653282" cy="2161751"/>
          </a:xfrm>
          <a:prstGeom prst="rect">
            <a:avLst/>
          </a:prstGeom>
        </p:spPr>
        <p:txBody>
          <a:bodyPr anchor="t" rtlCol="false" tIns="0" lIns="0" bIns="0" rIns="0">
            <a:spAutoFit/>
          </a:bodyPr>
          <a:lstStyle/>
          <a:p>
            <a:pPr algn="l" marL="0" indent="0" lvl="0">
              <a:lnSpc>
                <a:spcPts val="5474"/>
              </a:lnSpc>
            </a:pPr>
            <a:r>
              <a:rPr lang="en-US" b="true" sz="5886" spc="-58">
                <a:solidFill>
                  <a:srgbClr val="343434"/>
                </a:solidFill>
                <a:latin typeface="Poppins Bold"/>
                <a:ea typeface="Poppins Bold"/>
                <a:cs typeface="Poppins Bold"/>
                <a:sym typeface="Poppins Bold"/>
              </a:rPr>
              <a:t>THE PROBLEM: DECISIONS AT THE POINT OF RISK</a:t>
            </a:r>
          </a:p>
        </p:txBody>
      </p:sp>
      <p:sp>
        <p:nvSpPr>
          <p:cNvPr name="TextBox 14" id="14"/>
          <p:cNvSpPr txBox="true"/>
          <p:nvPr/>
        </p:nvSpPr>
        <p:spPr>
          <a:xfrm rot="0">
            <a:off x="684803" y="8108106"/>
            <a:ext cx="9880098" cy="1831709"/>
          </a:xfrm>
          <a:prstGeom prst="rect">
            <a:avLst/>
          </a:prstGeom>
        </p:spPr>
        <p:txBody>
          <a:bodyPr anchor="t" rtlCol="false" tIns="0" lIns="0" bIns="0" rIns="0">
            <a:spAutoFit/>
          </a:bodyPr>
          <a:lstStyle/>
          <a:p>
            <a:pPr algn="l" marL="0" indent="0" lvl="0">
              <a:lnSpc>
                <a:spcPts val="2376"/>
              </a:lnSpc>
            </a:pPr>
            <a:r>
              <a:rPr lang="en-US" sz="2263" spc="-22">
                <a:solidFill>
                  <a:srgbClr val="1F191A"/>
                </a:solidFill>
                <a:latin typeface="Poppins Light"/>
                <a:ea typeface="Poppins Light"/>
                <a:cs typeface="Poppins Light"/>
                <a:sym typeface="Poppins Light"/>
              </a:rPr>
              <a:t>Phishing is both a classification problem and a user-experience problem. Users encounter deceptive sites and emails without sufficient context to act safely. Ambiguous browser warnings are frequently ignored or bypassed. The solution must combine timely, accurate detection with clear risk explanations and controls that support — rather than frustrate — everyday browsing and email workflows.</a:t>
            </a:r>
          </a:p>
        </p:txBody>
      </p:sp>
      <p:sp>
        <p:nvSpPr>
          <p:cNvPr name="TextBox 15" id="15"/>
          <p:cNvSpPr txBox="true"/>
          <p:nvPr/>
        </p:nvSpPr>
        <p:spPr>
          <a:xfrm rot="0">
            <a:off x="1379892" y="6070969"/>
            <a:ext cx="5721373" cy="1303956"/>
          </a:xfrm>
          <a:prstGeom prst="rect">
            <a:avLst/>
          </a:prstGeom>
        </p:spPr>
        <p:txBody>
          <a:bodyPr anchor="t" rtlCol="false" tIns="0" lIns="0" bIns="0" rIns="0">
            <a:spAutoFit/>
          </a:bodyPr>
          <a:lstStyle/>
          <a:p>
            <a:pPr algn="l" marL="0" indent="0" lvl="0">
              <a:lnSpc>
                <a:spcPts val="2558"/>
              </a:lnSpc>
            </a:pPr>
            <a:r>
              <a:rPr lang="en-US" sz="1938">
                <a:solidFill>
                  <a:srgbClr val="FCFCFC"/>
                </a:solidFill>
                <a:latin typeface="Poppins Light"/>
                <a:ea typeface="Poppins Light"/>
                <a:cs typeface="Poppins Light"/>
                <a:sym typeface="Poppins Light"/>
              </a:rPr>
              <a:t>Deceptive websites and emails exploit user trust</a:t>
            </a:r>
          </a:p>
          <a:p>
            <a:pPr algn="l" marL="0" indent="0" lvl="0">
              <a:lnSpc>
                <a:spcPts val="2558"/>
              </a:lnSpc>
            </a:pPr>
            <a:r>
              <a:rPr lang="en-US" sz="1938">
                <a:solidFill>
                  <a:srgbClr val="FCFCFC"/>
                </a:solidFill>
                <a:latin typeface="Poppins Light"/>
                <a:ea typeface="Poppins Light"/>
                <a:cs typeface="Poppins Light"/>
                <a:sym typeface="Poppins Light"/>
              </a:rPr>
              <a:t>Unclear warnings make safe decisions difficult</a:t>
            </a:r>
          </a:p>
          <a:p>
            <a:pPr algn="l" marL="0" indent="0" lvl="0">
              <a:lnSpc>
                <a:spcPts val="2558"/>
              </a:lnSpc>
            </a:pPr>
            <a:r>
              <a:rPr lang="en-US" sz="1938">
                <a:solidFill>
                  <a:srgbClr val="FCFCFC"/>
                </a:solidFill>
                <a:latin typeface="Poppins Light"/>
                <a:ea typeface="Poppins Light"/>
                <a:cs typeface="Poppins Light"/>
                <a:sym typeface="Poppins Light"/>
              </a:rPr>
              <a:t>False positives interrupt legitimate browsing</a:t>
            </a:r>
          </a:p>
        </p:txBody>
      </p:sp>
      <p:sp>
        <p:nvSpPr>
          <p:cNvPr name="TextBox 16" id="16"/>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grpSp>
        <p:nvGrpSpPr>
          <p:cNvPr name="Group 17" id="17"/>
          <p:cNvGrpSpPr/>
          <p:nvPr/>
        </p:nvGrpSpPr>
        <p:grpSpPr>
          <a:xfrm rot="0">
            <a:off x="12968711" y="161481"/>
            <a:ext cx="2391678" cy="510325"/>
            <a:chOff x="0" y="0"/>
            <a:chExt cx="629907" cy="134407"/>
          </a:xfrm>
        </p:grpSpPr>
        <p:sp>
          <p:nvSpPr>
            <p:cNvPr name="Freeform 18" id="18"/>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9" id="19"/>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20" id="20"/>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sp>
        <p:nvSpPr>
          <p:cNvPr name="TextBox 2" id="2"/>
          <p:cNvSpPr txBox="true"/>
          <p:nvPr/>
        </p:nvSpPr>
        <p:spPr>
          <a:xfrm rot="0">
            <a:off x="8916053" y="1849779"/>
            <a:ext cx="7523756" cy="2242407"/>
          </a:xfrm>
          <a:prstGeom prst="rect">
            <a:avLst/>
          </a:prstGeom>
        </p:spPr>
        <p:txBody>
          <a:bodyPr anchor="t" rtlCol="false" tIns="0" lIns="0" bIns="0" rIns="0">
            <a:spAutoFit/>
          </a:bodyPr>
          <a:lstStyle/>
          <a:p>
            <a:pPr algn="l" marL="0" indent="0" lvl="0">
              <a:lnSpc>
                <a:spcPts val="2950"/>
              </a:lnSpc>
            </a:pPr>
            <a:r>
              <a:rPr lang="en-US" sz="2235">
                <a:solidFill>
                  <a:srgbClr val="1F191A"/>
                </a:solidFill>
                <a:latin typeface="Poppins"/>
                <a:ea typeface="Poppins"/>
                <a:cs typeface="Poppins"/>
                <a:sym typeface="Poppins"/>
              </a:rPr>
              <a:t>Des</a:t>
            </a:r>
            <a:r>
              <a:rPr lang="en-US" sz="2235">
                <a:solidFill>
                  <a:srgbClr val="1F191A"/>
                </a:solidFill>
                <a:latin typeface="Poppins"/>
                <a:ea typeface="Poppins"/>
                <a:cs typeface="Poppins"/>
                <a:sym typeface="Poppins"/>
              </a:rPr>
              <a:t>ign and develop a supervised learning-based system capable of accurately and efficiently detecting phishing websites and phishing emails by analyzing their structural, textual, and behavioral features, in order to enhance cybersecurity and protect users from online threats.</a:t>
            </a:r>
          </a:p>
        </p:txBody>
      </p:sp>
      <p:sp>
        <p:nvSpPr>
          <p:cNvPr name="Freeform 3" id="3"/>
          <p:cNvSpPr/>
          <p:nvPr/>
        </p:nvSpPr>
        <p:spPr>
          <a:xfrm flipH="false" flipV="false" rot="0">
            <a:off x="17057458" y="8811768"/>
            <a:ext cx="1745231" cy="955117"/>
          </a:xfrm>
          <a:custGeom>
            <a:avLst/>
            <a:gdLst/>
            <a:ahLst/>
            <a:cxnLst/>
            <a:rect r="r" b="b" t="t" l="l"/>
            <a:pathLst>
              <a:path h="955117" w="1745231">
                <a:moveTo>
                  <a:pt x="0" y="0"/>
                </a:moveTo>
                <a:lnTo>
                  <a:pt x="1745230" y="0"/>
                </a:lnTo>
                <a:lnTo>
                  <a:pt x="1745230"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016543" y="551141"/>
            <a:ext cx="1745231" cy="955117"/>
          </a:xfrm>
          <a:custGeom>
            <a:avLst/>
            <a:gdLst/>
            <a:ahLst/>
            <a:cxnLst/>
            <a:rect r="r" b="b" t="t" l="l"/>
            <a:pathLst>
              <a:path h="955117" w="1745231">
                <a:moveTo>
                  <a:pt x="0" y="0"/>
                </a:moveTo>
                <a:lnTo>
                  <a:pt x="1745231" y="0"/>
                </a:lnTo>
                <a:lnTo>
                  <a:pt x="1745231" y="955118"/>
                </a:lnTo>
                <a:lnTo>
                  <a:pt x="0" y="9551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3256" y="5376291"/>
            <a:ext cx="1745231" cy="955117"/>
          </a:xfrm>
          <a:custGeom>
            <a:avLst/>
            <a:gdLst/>
            <a:ahLst/>
            <a:cxnLst/>
            <a:rect r="r" b="b" t="t" l="l"/>
            <a:pathLst>
              <a:path h="955117" w="1745231">
                <a:moveTo>
                  <a:pt x="0" y="0"/>
                </a:moveTo>
                <a:lnTo>
                  <a:pt x="1745231" y="0"/>
                </a:lnTo>
                <a:lnTo>
                  <a:pt x="1745231" y="955118"/>
                </a:lnTo>
                <a:lnTo>
                  <a:pt x="0" y="9551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4"/>
            <a:stretch>
              <a:fillRect l="0" t="0" r="0" b="0"/>
            </a:stretch>
          </a:blipFill>
        </p:spPr>
      </p:sp>
      <p:sp>
        <p:nvSpPr>
          <p:cNvPr name="Freeform 7" id="7"/>
          <p:cNvSpPr/>
          <p:nvPr/>
        </p:nvSpPr>
        <p:spPr>
          <a:xfrm flipH="false" flipV="false" rot="0">
            <a:off x="1044373" y="3432887"/>
            <a:ext cx="7018326" cy="7018326"/>
          </a:xfrm>
          <a:custGeom>
            <a:avLst/>
            <a:gdLst/>
            <a:ahLst/>
            <a:cxnLst/>
            <a:rect r="r" b="b" t="t" l="l"/>
            <a:pathLst>
              <a:path h="7018326" w="7018326">
                <a:moveTo>
                  <a:pt x="0" y="0"/>
                </a:moveTo>
                <a:lnTo>
                  <a:pt x="7018326" y="0"/>
                </a:lnTo>
                <a:lnTo>
                  <a:pt x="7018326" y="7018326"/>
                </a:lnTo>
                <a:lnTo>
                  <a:pt x="0" y="7018326"/>
                </a:lnTo>
                <a:lnTo>
                  <a:pt x="0" y="0"/>
                </a:lnTo>
                <a:close/>
              </a:path>
            </a:pathLst>
          </a:custGeom>
          <a:blipFill>
            <a:blip r:embed="rId5"/>
            <a:stretch>
              <a:fillRect l="0" t="0" r="0" b="0"/>
            </a:stretch>
          </a:blipFill>
        </p:spPr>
      </p:sp>
      <p:sp>
        <p:nvSpPr>
          <p:cNvPr name="TextBox 8" id="8"/>
          <p:cNvSpPr txBox="true"/>
          <p:nvPr/>
        </p:nvSpPr>
        <p:spPr>
          <a:xfrm rot="0">
            <a:off x="1044373" y="1972275"/>
            <a:ext cx="7901583" cy="1629088"/>
          </a:xfrm>
          <a:prstGeom prst="rect">
            <a:avLst/>
          </a:prstGeom>
        </p:spPr>
        <p:txBody>
          <a:bodyPr anchor="t" rtlCol="false" tIns="0" lIns="0" bIns="0" rIns="0">
            <a:spAutoFit/>
          </a:bodyPr>
          <a:lstStyle/>
          <a:p>
            <a:pPr algn="l" marL="0" indent="0" lvl="0">
              <a:lnSpc>
                <a:spcPts val="6036"/>
              </a:lnSpc>
            </a:pPr>
            <a:r>
              <a:rPr lang="en-US" b="true" sz="6490" spc="-64">
                <a:solidFill>
                  <a:srgbClr val="FCFCFC"/>
                </a:solidFill>
                <a:latin typeface="Poppins Bold"/>
                <a:ea typeface="Poppins Bold"/>
                <a:cs typeface="Poppins Bold"/>
                <a:sym typeface="Poppins Bold"/>
              </a:rPr>
              <a:t>PROJECT AIM AND OBJECTIVES</a:t>
            </a:r>
          </a:p>
        </p:txBody>
      </p:sp>
      <p:sp>
        <p:nvSpPr>
          <p:cNvPr name="TextBox 9" id="9"/>
          <p:cNvSpPr txBox="true"/>
          <p:nvPr/>
        </p:nvSpPr>
        <p:spPr>
          <a:xfrm rot="0">
            <a:off x="9060946" y="4332862"/>
            <a:ext cx="8198354" cy="5142176"/>
          </a:xfrm>
          <a:prstGeom prst="rect">
            <a:avLst/>
          </a:prstGeom>
        </p:spPr>
        <p:txBody>
          <a:bodyPr anchor="t" rtlCol="false" tIns="0" lIns="0" bIns="0" rIns="0">
            <a:spAutoFit/>
          </a:bodyPr>
          <a:lstStyle/>
          <a:p>
            <a:pPr algn="l" marL="577988" indent="-288994" lvl="1">
              <a:lnSpc>
                <a:spcPts val="3747"/>
              </a:lnSpc>
              <a:buFont typeface="Arial"/>
              <a:buChar char="•"/>
            </a:pPr>
            <a:r>
              <a:rPr lang="en-US" sz="2677" spc="-53">
                <a:solidFill>
                  <a:srgbClr val="000000"/>
                </a:solidFill>
                <a:latin typeface="Poppins"/>
                <a:ea typeface="Poppins"/>
                <a:cs typeface="Poppins"/>
                <a:sym typeface="Poppins"/>
              </a:rPr>
              <a:t>T</a:t>
            </a:r>
            <a:r>
              <a:rPr lang="en-US" sz="2677" spc="-53">
                <a:solidFill>
                  <a:srgbClr val="000000"/>
                </a:solidFill>
                <a:latin typeface="Poppins"/>
                <a:ea typeface="Poppins"/>
                <a:cs typeface="Poppins"/>
                <a:sym typeface="Poppins"/>
              </a:rPr>
              <a:t>o analyze the common characteristics and techniques used in phishing websites and phishing emails.</a:t>
            </a:r>
          </a:p>
          <a:p>
            <a:pPr algn="l" marL="577988" indent="-288994" lvl="1">
              <a:lnSpc>
                <a:spcPts val="3747"/>
              </a:lnSpc>
              <a:buFont typeface="Arial"/>
              <a:buChar char="•"/>
            </a:pPr>
            <a:r>
              <a:rPr lang="en-US" sz="2677" spc="-53">
                <a:solidFill>
                  <a:srgbClr val="000000"/>
                </a:solidFill>
                <a:latin typeface="Poppins"/>
                <a:ea typeface="Poppins"/>
                <a:cs typeface="Poppins"/>
                <a:sym typeface="Poppins"/>
              </a:rPr>
              <a:t>To collect and preprocess relevant datasets for phishing websites and email detection.</a:t>
            </a:r>
          </a:p>
          <a:p>
            <a:pPr algn="l" marL="577988" indent="-288994" lvl="1">
              <a:lnSpc>
                <a:spcPts val="3747"/>
              </a:lnSpc>
              <a:buFont typeface="Arial"/>
              <a:buChar char="•"/>
            </a:pPr>
            <a:r>
              <a:rPr lang="en-US" sz="2677" spc="-53">
                <a:solidFill>
                  <a:srgbClr val="000000"/>
                </a:solidFill>
                <a:latin typeface="Poppins"/>
                <a:ea typeface="Poppins"/>
                <a:cs typeface="Poppins"/>
                <a:sym typeface="Poppins"/>
              </a:rPr>
              <a:t>To develop supervised machine learning models for classifying websites and emails as either legitimate or phishing.</a:t>
            </a:r>
          </a:p>
          <a:p>
            <a:pPr algn="l" marL="577988" indent="-288994" lvl="1">
              <a:lnSpc>
                <a:spcPts val="3747"/>
              </a:lnSpc>
              <a:buFont typeface="Arial"/>
              <a:buChar char="•"/>
            </a:pPr>
            <a:r>
              <a:rPr lang="en-US" sz="2677" spc="-53">
                <a:solidFill>
                  <a:srgbClr val="000000"/>
                </a:solidFill>
                <a:latin typeface="Poppins"/>
                <a:ea typeface="Poppins"/>
                <a:cs typeface="Poppins"/>
                <a:sym typeface="Poppins"/>
              </a:rPr>
              <a:t>To evaluate the performance of the developed models using standard classification metrics</a:t>
            </a:r>
          </a:p>
        </p:txBody>
      </p:sp>
      <p:grpSp>
        <p:nvGrpSpPr>
          <p:cNvPr name="Group 10" id="10"/>
          <p:cNvGrpSpPr/>
          <p:nvPr/>
        </p:nvGrpSpPr>
        <p:grpSpPr>
          <a:xfrm rot="0">
            <a:off x="12968711" y="161481"/>
            <a:ext cx="2391678" cy="510325"/>
            <a:chOff x="0" y="0"/>
            <a:chExt cx="629907" cy="134407"/>
          </a:xfrm>
        </p:grpSpPr>
        <p:sp>
          <p:nvSpPr>
            <p:cNvPr name="Freeform 11" id="11"/>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2" id="12"/>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3" id="13"/>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grpSp>
        <p:nvGrpSpPr>
          <p:cNvPr name="Group 14" id="14"/>
          <p:cNvGrpSpPr/>
          <p:nvPr/>
        </p:nvGrpSpPr>
        <p:grpSpPr>
          <a:xfrm rot="0">
            <a:off x="1028700" y="1028700"/>
            <a:ext cx="2391678" cy="510325"/>
            <a:chOff x="0" y="0"/>
            <a:chExt cx="629907" cy="134407"/>
          </a:xfrm>
        </p:grpSpPr>
        <p:sp>
          <p:nvSpPr>
            <p:cNvPr name="Freeform 15" id="15"/>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6" id="16"/>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7" id="17"/>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391678" cy="510325"/>
            <a:chOff x="0" y="0"/>
            <a:chExt cx="629907" cy="134407"/>
          </a:xfrm>
        </p:grpSpPr>
        <p:sp>
          <p:nvSpPr>
            <p:cNvPr name="Freeform 3" id="3"/>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4" id="4"/>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Freeform 5" id="5"/>
          <p:cNvSpPr/>
          <p:nvPr/>
        </p:nvSpPr>
        <p:spPr>
          <a:xfrm flipH="false" flipV="false" rot="0">
            <a:off x="17566772" y="606496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356034" y="58390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4"/>
            <a:stretch>
              <a:fillRect l="0" t="0" r="0" b="0"/>
            </a:stretch>
          </a:blipFill>
        </p:spPr>
      </p:sp>
      <p:sp>
        <p:nvSpPr>
          <p:cNvPr name="Freeform 9" id="9"/>
          <p:cNvSpPr/>
          <p:nvPr/>
        </p:nvSpPr>
        <p:spPr>
          <a:xfrm flipH="false" flipV="false" rot="0">
            <a:off x="760467" y="2441748"/>
            <a:ext cx="7018326" cy="7018326"/>
          </a:xfrm>
          <a:custGeom>
            <a:avLst/>
            <a:gdLst/>
            <a:ahLst/>
            <a:cxnLst/>
            <a:rect r="r" b="b" t="t" l="l"/>
            <a:pathLst>
              <a:path h="7018326" w="7018326">
                <a:moveTo>
                  <a:pt x="0" y="0"/>
                </a:moveTo>
                <a:lnTo>
                  <a:pt x="7018326" y="0"/>
                </a:lnTo>
                <a:lnTo>
                  <a:pt x="7018326" y="7018326"/>
                </a:lnTo>
                <a:lnTo>
                  <a:pt x="0" y="7018326"/>
                </a:lnTo>
                <a:lnTo>
                  <a:pt x="0" y="0"/>
                </a:lnTo>
                <a:close/>
              </a:path>
            </a:pathLst>
          </a:custGeom>
          <a:blipFill>
            <a:blip r:embed="rId5"/>
            <a:stretch>
              <a:fillRect l="0" t="0" r="0" b="0"/>
            </a:stretch>
          </a:blipFill>
        </p:spPr>
      </p:sp>
      <p:sp>
        <p:nvSpPr>
          <p:cNvPr name="TextBox 10" id="10"/>
          <p:cNvSpPr txBox="true"/>
          <p:nvPr/>
        </p:nvSpPr>
        <p:spPr>
          <a:xfrm rot="0">
            <a:off x="8074068" y="4497756"/>
            <a:ext cx="7662695" cy="2032109"/>
          </a:xfrm>
          <a:prstGeom prst="rect">
            <a:avLst/>
          </a:prstGeom>
        </p:spPr>
        <p:txBody>
          <a:bodyPr anchor="t" rtlCol="false" tIns="0" lIns="0" bIns="0" rIns="0">
            <a:spAutoFit/>
          </a:bodyPr>
          <a:lstStyle/>
          <a:p>
            <a:pPr algn="l" marL="0" indent="0" lvl="0">
              <a:lnSpc>
                <a:spcPts val="2281"/>
              </a:lnSpc>
            </a:pPr>
            <a:r>
              <a:rPr lang="en-US" sz="2172" spc="-21">
                <a:solidFill>
                  <a:srgbClr val="1F191A"/>
                </a:solidFill>
                <a:latin typeface="Poppins Light"/>
                <a:ea typeface="Poppins Light"/>
                <a:cs typeface="Poppins Light"/>
                <a:sym typeface="Poppins Light"/>
              </a:rPr>
              <a:t>An Agile iterative methodology guided the development of PhishGuard. Requirements were informed by 44 survey respondents whose feedback shaped warning clarity, workflow convenience, and trust controls. Each iteration involved implementation, testing, and refinement — with regression tests added as real development issues were encountered.</a:t>
            </a:r>
          </a:p>
        </p:txBody>
      </p:sp>
      <p:sp>
        <p:nvSpPr>
          <p:cNvPr name="TextBox 11" id="11"/>
          <p:cNvSpPr txBox="true"/>
          <p:nvPr/>
        </p:nvSpPr>
        <p:spPr>
          <a:xfrm rot="0">
            <a:off x="8074068" y="6972453"/>
            <a:ext cx="4548544" cy="2017410"/>
          </a:xfrm>
          <a:prstGeom prst="rect">
            <a:avLst/>
          </a:prstGeom>
        </p:spPr>
        <p:txBody>
          <a:bodyPr anchor="t" rtlCol="false" tIns="0" lIns="0" bIns="0" rIns="0">
            <a:spAutoFit/>
          </a:bodyPr>
          <a:lstStyle/>
          <a:p>
            <a:pPr algn="l" marL="0" indent="0" lvl="0">
              <a:lnSpc>
                <a:spcPts val="2638"/>
              </a:lnSpc>
            </a:pPr>
            <a:r>
              <a:rPr lang="en-US" b="true" sz="1999">
                <a:solidFill>
                  <a:srgbClr val="1F191A"/>
                </a:solidFill>
                <a:latin typeface="Poppins Bold"/>
                <a:ea typeface="Poppins Bold"/>
                <a:cs typeface="Poppins Bold"/>
                <a:sym typeface="Poppins Bold"/>
              </a:rPr>
              <a:t>44 survey respondents</a:t>
            </a:r>
            <a:r>
              <a:rPr lang="en-US" sz="1999">
                <a:solidFill>
                  <a:srgbClr val="1F191A"/>
                </a:solidFill>
                <a:latin typeface="Poppins Light"/>
                <a:ea typeface="Poppins Light"/>
                <a:cs typeface="Poppins Light"/>
                <a:sym typeface="Poppins Light"/>
              </a:rPr>
              <a:t> informed user requirements. Agile sprints enabled iterative build-test-refine cycles. Regression tests reflected real development failures, not only ideal paths.</a:t>
            </a:r>
          </a:p>
        </p:txBody>
      </p:sp>
      <p:sp>
        <p:nvSpPr>
          <p:cNvPr name="TextBox 12" id="12"/>
          <p:cNvSpPr txBox="true"/>
          <p:nvPr/>
        </p:nvSpPr>
        <p:spPr>
          <a:xfrm rot="0">
            <a:off x="12712816" y="6972453"/>
            <a:ext cx="3528168" cy="2684160"/>
          </a:xfrm>
          <a:prstGeom prst="rect">
            <a:avLst/>
          </a:prstGeom>
        </p:spPr>
        <p:txBody>
          <a:bodyPr anchor="t" rtlCol="false" tIns="0" lIns="0" bIns="0" rIns="0">
            <a:spAutoFit/>
          </a:bodyPr>
          <a:lstStyle/>
          <a:p>
            <a:pPr algn="l" marL="0" indent="0" lvl="0">
              <a:lnSpc>
                <a:spcPts val="2638"/>
              </a:lnSpc>
            </a:pPr>
            <a:r>
              <a:rPr lang="en-US" sz="1999">
                <a:solidFill>
                  <a:srgbClr val="1F191A"/>
                </a:solidFill>
                <a:latin typeface="Poppins Light"/>
                <a:ea typeface="Poppins Light"/>
                <a:cs typeface="Poppins Light"/>
                <a:sym typeface="Poppins Light"/>
              </a:rPr>
              <a:t>Model evaluation kept separate from runtime contextual checks. </a:t>
            </a:r>
            <a:r>
              <a:rPr lang="en-US" b="true" sz="1999">
                <a:solidFill>
                  <a:srgbClr val="1F191A"/>
                </a:solidFill>
                <a:latin typeface="Poppins Bold"/>
                <a:ea typeface="Poppins Bold"/>
                <a:cs typeface="Poppins Bold"/>
                <a:sym typeface="Poppins Bold"/>
              </a:rPr>
              <a:t>Email release gate: 37/37</a:t>
            </a:r>
            <a:r>
              <a:rPr lang="en-US" sz="1999">
                <a:solidFill>
                  <a:srgbClr val="1F191A"/>
                </a:solidFill>
                <a:latin typeface="Poppins Light"/>
                <a:ea typeface="Poppins Light"/>
                <a:cs typeface="Poppins Light"/>
                <a:sym typeface="Poppins Light"/>
              </a:rPr>
              <a:t> documented cases passed. User needs drove warning clarity and usability decisions.</a:t>
            </a:r>
          </a:p>
        </p:txBody>
      </p:sp>
      <p:sp>
        <p:nvSpPr>
          <p:cNvPr name="TextBox 13" id="13"/>
          <p:cNvSpPr txBox="true"/>
          <p:nvPr/>
        </p:nvSpPr>
        <p:spPr>
          <a:xfrm rot="0">
            <a:off x="7778793" y="1807036"/>
            <a:ext cx="8462191" cy="2409348"/>
          </a:xfrm>
          <a:prstGeom prst="rect">
            <a:avLst/>
          </a:prstGeom>
        </p:spPr>
        <p:txBody>
          <a:bodyPr anchor="t" rtlCol="false" tIns="0" lIns="0" bIns="0" rIns="0">
            <a:spAutoFit/>
          </a:bodyPr>
          <a:lstStyle/>
          <a:p>
            <a:pPr algn="l" marL="0" indent="0" lvl="0">
              <a:lnSpc>
                <a:spcPts val="6117"/>
              </a:lnSpc>
            </a:pPr>
            <a:r>
              <a:rPr lang="en-US" b="true" sz="6577" spc="-65">
                <a:solidFill>
                  <a:srgbClr val="343434"/>
                </a:solidFill>
                <a:latin typeface="Poppins Bold"/>
                <a:ea typeface="Poppins Bold"/>
                <a:cs typeface="Poppins Bold"/>
                <a:sym typeface="Poppins Bold"/>
              </a:rPr>
              <a:t>RESEARCH AND DEVELOPMENT APPROACH</a:t>
            </a:r>
          </a:p>
        </p:txBody>
      </p:sp>
      <p:sp>
        <p:nvSpPr>
          <p:cNvPr name="TextBox 14" id="14"/>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grpSp>
        <p:nvGrpSpPr>
          <p:cNvPr name="Group 15" id="15"/>
          <p:cNvGrpSpPr/>
          <p:nvPr/>
        </p:nvGrpSpPr>
        <p:grpSpPr>
          <a:xfrm rot="0">
            <a:off x="12968711" y="161481"/>
            <a:ext cx="2391678" cy="510325"/>
            <a:chOff x="0" y="0"/>
            <a:chExt cx="629907" cy="134407"/>
          </a:xfrm>
        </p:grpSpPr>
        <p:sp>
          <p:nvSpPr>
            <p:cNvPr name="Freeform 16" id="16"/>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7" id="17"/>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8" id="18"/>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sp>
        <p:nvSpPr>
          <p:cNvPr name="Freeform 2" id="2"/>
          <p:cNvSpPr/>
          <p:nvPr/>
        </p:nvSpPr>
        <p:spPr>
          <a:xfrm flipH="false" flipV="false" rot="0">
            <a:off x="17566772" y="606496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56034" y="58390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61288" y="1812181"/>
            <a:ext cx="7743501" cy="7743501"/>
          </a:xfrm>
          <a:custGeom>
            <a:avLst/>
            <a:gdLst/>
            <a:ahLst/>
            <a:cxnLst/>
            <a:rect r="r" b="b" t="t" l="l"/>
            <a:pathLst>
              <a:path h="7743501" w="7743501">
                <a:moveTo>
                  <a:pt x="0" y="0"/>
                </a:moveTo>
                <a:lnTo>
                  <a:pt x="7743500" y="0"/>
                </a:lnTo>
                <a:lnTo>
                  <a:pt x="7743500" y="7743500"/>
                </a:lnTo>
                <a:lnTo>
                  <a:pt x="0" y="7743500"/>
                </a:lnTo>
                <a:lnTo>
                  <a:pt x="0" y="0"/>
                </a:lnTo>
                <a:close/>
              </a:path>
            </a:pathLst>
          </a:custGeom>
          <a:blipFill>
            <a:blip r:embed="rId4"/>
            <a:stretch>
              <a:fillRect l="0" t="0" r="0" b="0"/>
            </a:stretch>
          </a:blipFill>
        </p:spPr>
      </p:sp>
      <p:sp>
        <p:nvSpPr>
          <p:cNvPr name="TextBox 6" id="6"/>
          <p:cNvSpPr txBox="true"/>
          <p:nvPr/>
        </p:nvSpPr>
        <p:spPr>
          <a:xfrm rot="0">
            <a:off x="9528252" y="6074486"/>
            <a:ext cx="7728264" cy="3746182"/>
          </a:xfrm>
          <a:prstGeom prst="rect">
            <a:avLst/>
          </a:prstGeom>
        </p:spPr>
        <p:txBody>
          <a:bodyPr anchor="t" rtlCol="false" tIns="0" lIns="0" bIns="0" rIns="0">
            <a:spAutoFit/>
          </a:bodyPr>
          <a:lstStyle/>
          <a:p>
            <a:pPr algn="l" marL="0" indent="0" lvl="0">
              <a:lnSpc>
                <a:spcPts val="2257"/>
              </a:lnSpc>
              <a:spcBef>
                <a:spcPct val="0"/>
              </a:spcBef>
            </a:pPr>
            <a:r>
              <a:rPr lang="en-US" b="true" sz="2149" spc="-21" strike="noStrike" u="none">
                <a:solidFill>
                  <a:srgbClr val="1F191A"/>
                </a:solidFill>
                <a:latin typeface="Poppins Bold"/>
                <a:ea typeface="Poppins Bold"/>
                <a:cs typeface="Poppins Bold"/>
                <a:sym typeface="Poppins Bold"/>
              </a:rPr>
              <a:t>Chrome Manifest V3 Extension</a:t>
            </a:r>
            <a:r>
              <a:rPr lang="en-US" sz="2149" spc="-21" strike="noStrike" u="none">
                <a:solidFill>
                  <a:srgbClr val="1F191A"/>
                </a:solidFill>
                <a:latin typeface="Poppins Light"/>
                <a:ea typeface="Poppins Light"/>
                <a:cs typeface="Poppins Light"/>
                <a:sym typeface="Poppins Light"/>
              </a:rPr>
              <a:t> — browser-side scanning, Gmail integration, local history, trust controls, settings, and vault cryptography.</a:t>
            </a:r>
          </a:p>
          <a:p>
            <a:pPr algn="l" marL="0" indent="0" lvl="0">
              <a:lnSpc>
                <a:spcPts val="2257"/>
              </a:lnSpc>
              <a:spcBef>
                <a:spcPct val="0"/>
              </a:spcBef>
            </a:pPr>
            <a:r>
              <a:rPr lang="en-US" b="true" sz="2149" spc="-21" strike="noStrike" u="none">
                <a:solidFill>
                  <a:srgbClr val="1F191A"/>
                </a:solidFill>
                <a:latin typeface="Poppins Bold"/>
                <a:ea typeface="Poppins Bold"/>
                <a:cs typeface="Poppins Bold"/>
                <a:sym typeface="Poppins Bold"/>
              </a:rPr>
              <a:t>Python Flask API on Render</a:t>
            </a:r>
            <a:r>
              <a:rPr lang="en-US" sz="2149" spc="-21" strike="noStrike" u="none">
                <a:solidFill>
                  <a:srgbClr val="1F191A"/>
                </a:solidFill>
                <a:latin typeface="Poppins Light"/>
                <a:ea typeface="Poppins Light"/>
                <a:cs typeface="Poppins Light"/>
                <a:sym typeface="Poppins Light"/>
              </a:rPr>
              <a:t> — receives scan requests, loads the frozen ML models, and returns structured risk responses.</a:t>
            </a:r>
          </a:p>
          <a:p>
            <a:pPr algn="l" marL="0" indent="0" lvl="0">
              <a:lnSpc>
                <a:spcPts val="2257"/>
              </a:lnSpc>
              <a:spcBef>
                <a:spcPct val="0"/>
              </a:spcBef>
            </a:pPr>
            <a:r>
              <a:rPr lang="en-US" b="true" sz="2149" spc="-21" strike="noStrike" u="none">
                <a:solidFill>
                  <a:srgbClr val="1F191A"/>
                </a:solidFill>
                <a:latin typeface="Poppins Bold"/>
                <a:ea typeface="Poppins Bold"/>
                <a:cs typeface="Poppins Bold"/>
                <a:sym typeface="Poppins Bold"/>
              </a:rPr>
              <a:t>Random Forest (website) and Calibrated LinearSVC (email)</a:t>
            </a:r>
            <a:r>
              <a:rPr lang="en-US" sz="2149" spc="-21" strike="noStrike" u="none">
                <a:solidFill>
                  <a:srgbClr val="1F191A"/>
                </a:solidFill>
                <a:latin typeface="Poppins Light"/>
                <a:ea typeface="Poppins Light"/>
                <a:cs typeface="Poppins Light"/>
                <a:sym typeface="Poppins Light"/>
              </a:rPr>
              <a:t> — supervised models served by the Flask backend.</a:t>
            </a:r>
          </a:p>
          <a:p>
            <a:pPr algn="l" marL="0" indent="0" lvl="0">
              <a:lnSpc>
                <a:spcPts val="2257"/>
              </a:lnSpc>
              <a:spcBef>
                <a:spcPct val="0"/>
              </a:spcBef>
            </a:pPr>
            <a:r>
              <a:rPr lang="en-US" b="true" sz="2149" spc="-21" strike="noStrike" u="none">
                <a:solidFill>
                  <a:srgbClr val="1F191A"/>
                </a:solidFill>
                <a:latin typeface="Poppins Bold"/>
                <a:ea typeface="Poppins Bold"/>
                <a:cs typeface="Poppins Bold"/>
                <a:sym typeface="Poppins Bold"/>
              </a:rPr>
              <a:t>Neon PostgreSQL </a:t>
            </a:r>
            <a:r>
              <a:rPr lang="en-US" sz="2149" spc="-21" strike="noStrike" u="none">
                <a:solidFill>
                  <a:srgbClr val="1F191A"/>
                </a:solidFill>
                <a:latin typeface="Poppins Light"/>
                <a:ea typeface="Poppins Light"/>
                <a:cs typeface="Poppins Light"/>
                <a:sym typeface="Poppins Light"/>
              </a:rPr>
              <a:t>— stores account, MFA/session, security-event, and encrypted vault records.</a:t>
            </a:r>
          </a:p>
          <a:p>
            <a:pPr algn="l" marL="0" indent="0" lvl="0">
              <a:lnSpc>
                <a:spcPts val="2257"/>
              </a:lnSpc>
              <a:spcBef>
                <a:spcPct val="0"/>
              </a:spcBef>
            </a:pPr>
            <a:r>
              <a:rPr lang="en-US" b="true" sz="2149" spc="-21" strike="noStrike" u="none">
                <a:solidFill>
                  <a:srgbClr val="1F191A"/>
                </a:solidFill>
                <a:latin typeface="Poppins Bold"/>
                <a:ea typeface="Poppins Bold"/>
                <a:cs typeface="Poppins Bold"/>
                <a:sym typeface="Poppins Bold"/>
              </a:rPr>
              <a:t>InfinityFree Project Website</a:t>
            </a:r>
            <a:r>
              <a:rPr lang="en-US" sz="2149" spc="-21" strike="noStrike" u="none">
                <a:solidFill>
                  <a:srgbClr val="1F191A"/>
                </a:solidFill>
                <a:latin typeface="Poppins Light"/>
                <a:ea typeface="Poppins Light"/>
                <a:cs typeface="Poppins Light"/>
                <a:sym typeface="Poppins Light"/>
              </a:rPr>
              <a:t> — public download and documentation site; separate from the detection pipeline.</a:t>
            </a:r>
          </a:p>
        </p:txBody>
      </p:sp>
      <p:sp>
        <p:nvSpPr>
          <p:cNvPr name="TextBox 7" id="7"/>
          <p:cNvSpPr txBox="true"/>
          <p:nvPr/>
        </p:nvSpPr>
        <p:spPr>
          <a:xfrm rot="0">
            <a:off x="8701135" y="2506260"/>
            <a:ext cx="9382498" cy="1708256"/>
          </a:xfrm>
          <a:prstGeom prst="rect">
            <a:avLst/>
          </a:prstGeom>
        </p:spPr>
        <p:txBody>
          <a:bodyPr anchor="t" rtlCol="false" tIns="0" lIns="0" bIns="0" rIns="0">
            <a:spAutoFit/>
          </a:bodyPr>
          <a:lstStyle/>
          <a:p>
            <a:pPr algn="l" marL="0" indent="0" lvl="0">
              <a:lnSpc>
                <a:spcPts val="6236"/>
              </a:lnSpc>
            </a:pPr>
            <a:r>
              <a:rPr lang="en-US" b="true" sz="6705" spc="-67">
                <a:solidFill>
                  <a:srgbClr val="343434"/>
                </a:solidFill>
                <a:latin typeface="Poppins Bold"/>
                <a:ea typeface="Poppins Bold"/>
                <a:cs typeface="Poppins Bold"/>
                <a:sym typeface="Poppins Bold"/>
              </a:rPr>
              <a:t>END-TO-END SYSTEM ARCHITECTURE</a:t>
            </a:r>
          </a:p>
        </p:txBody>
      </p:sp>
      <p:sp>
        <p:nvSpPr>
          <p:cNvPr name="TextBox 8" id="8"/>
          <p:cNvSpPr txBox="true"/>
          <p:nvPr/>
        </p:nvSpPr>
        <p:spPr>
          <a:xfrm rot="0">
            <a:off x="9004838" y="4416556"/>
            <a:ext cx="6383692" cy="1191768"/>
          </a:xfrm>
          <a:prstGeom prst="rect">
            <a:avLst/>
          </a:prstGeom>
        </p:spPr>
        <p:txBody>
          <a:bodyPr anchor="t" rtlCol="false" tIns="0" lIns="0" bIns="0" rIns="0">
            <a:spAutoFit/>
          </a:bodyPr>
          <a:lstStyle/>
          <a:p>
            <a:pPr algn="l" marL="0" indent="0" lvl="0">
              <a:lnSpc>
                <a:spcPts val="2375"/>
              </a:lnSpc>
              <a:spcBef>
                <a:spcPct val="0"/>
              </a:spcBef>
            </a:pPr>
            <a:r>
              <a:rPr lang="en-US" sz="1799" strike="noStrike" u="none">
                <a:solidFill>
                  <a:srgbClr val="1F191A"/>
                </a:solidFill>
                <a:latin typeface="Poppins Light"/>
                <a:ea typeface="Poppins Light"/>
                <a:cs typeface="Poppins Light"/>
                <a:sym typeface="Poppins Light"/>
              </a:rPr>
              <a:t>The extension handles browser interaction, Render hosts model inference, and Neon stores only the persistent account and encrypted security data required by the system.</a:t>
            </a:r>
          </a:p>
        </p:txBody>
      </p:sp>
      <p:sp>
        <p:nvSpPr>
          <p:cNvPr name="Freeform 9" id="9"/>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grpSp>
        <p:nvGrpSpPr>
          <p:cNvPr name="Group 10" id="10"/>
          <p:cNvGrpSpPr/>
          <p:nvPr/>
        </p:nvGrpSpPr>
        <p:grpSpPr>
          <a:xfrm rot="0">
            <a:off x="12978236" y="161481"/>
            <a:ext cx="2391678" cy="510325"/>
            <a:chOff x="0" y="0"/>
            <a:chExt cx="629907" cy="134407"/>
          </a:xfrm>
        </p:grpSpPr>
        <p:sp>
          <p:nvSpPr>
            <p:cNvPr name="Freeform 11" id="11"/>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2" id="12"/>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3" id="13"/>
          <p:cNvSpPr txBox="true"/>
          <p:nvPr/>
        </p:nvSpPr>
        <p:spPr>
          <a:xfrm rot="0">
            <a:off x="13180079"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grpSp>
        <p:nvGrpSpPr>
          <p:cNvPr name="Group 14" id="14"/>
          <p:cNvGrpSpPr/>
          <p:nvPr/>
        </p:nvGrpSpPr>
        <p:grpSpPr>
          <a:xfrm rot="0">
            <a:off x="1028700" y="1028700"/>
            <a:ext cx="2391678" cy="510325"/>
            <a:chOff x="0" y="0"/>
            <a:chExt cx="629907" cy="134407"/>
          </a:xfrm>
        </p:grpSpPr>
        <p:sp>
          <p:nvSpPr>
            <p:cNvPr name="Freeform 15" id="15"/>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6" id="16"/>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7" id="17"/>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grpSp>
        <p:nvGrpSpPr>
          <p:cNvPr name="Group 2" id="2"/>
          <p:cNvGrpSpPr/>
          <p:nvPr/>
        </p:nvGrpSpPr>
        <p:grpSpPr>
          <a:xfrm rot="0">
            <a:off x="370810" y="7005304"/>
            <a:ext cx="7312313" cy="2417469"/>
            <a:chOff x="0" y="0"/>
            <a:chExt cx="1962951" cy="648956"/>
          </a:xfrm>
        </p:grpSpPr>
        <p:sp>
          <p:nvSpPr>
            <p:cNvPr name="Freeform 3" id="3"/>
            <p:cNvSpPr/>
            <p:nvPr/>
          </p:nvSpPr>
          <p:spPr>
            <a:xfrm flipH="false" flipV="false" rot="0">
              <a:off x="0" y="0"/>
              <a:ext cx="1962951" cy="648956"/>
            </a:xfrm>
            <a:custGeom>
              <a:avLst/>
              <a:gdLst/>
              <a:ahLst/>
              <a:cxnLst/>
              <a:rect r="r" b="b" t="t" l="l"/>
              <a:pathLst>
                <a:path h="648956" w="1962951">
                  <a:moveTo>
                    <a:pt x="17999" y="0"/>
                  </a:moveTo>
                  <a:lnTo>
                    <a:pt x="1944952" y="0"/>
                  </a:lnTo>
                  <a:cubicBezTo>
                    <a:pt x="1949726" y="0"/>
                    <a:pt x="1954304" y="1896"/>
                    <a:pt x="1957679" y="5272"/>
                  </a:cubicBezTo>
                  <a:cubicBezTo>
                    <a:pt x="1961055" y="8647"/>
                    <a:pt x="1962951" y="13225"/>
                    <a:pt x="1962951" y="17999"/>
                  </a:cubicBezTo>
                  <a:lnTo>
                    <a:pt x="1962951" y="630958"/>
                  </a:lnTo>
                  <a:cubicBezTo>
                    <a:pt x="1962951" y="635731"/>
                    <a:pt x="1961055" y="640309"/>
                    <a:pt x="1957679" y="643685"/>
                  </a:cubicBezTo>
                  <a:cubicBezTo>
                    <a:pt x="1954304" y="647060"/>
                    <a:pt x="1949726" y="648956"/>
                    <a:pt x="1944952" y="648956"/>
                  </a:cubicBezTo>
                  <a:lnTo>
                    <a:pt x="17999" y="648956"/>
                  </a:lnTo>
                  <a:cubicBezTo>
                    <a:pt x="13225" y="648956"/>
                    <a:pt x="8647" y="647060"/>
                    <a:pt x="5272" y="643685"/>
                  </a:cubicBezTo>
                  <a:cubicBezTo>
                    <a:pt x="1896" y="640309"/>
                    <a:pt x="0" y="635731"/>
                    <a:pt x="0" y="630958"/>
                  </a:cubicBezTo>
                  <a:lnTo>
                    <a:pt x="0" y="17999"/>
                  </a:lnTo>
                  <a:cubicBezTo>
                    <a:pt x="0" y="13225"/>
                    <a:pt x="1896" y="8647"/>
                    <a:pt x="5272" y="5272"/>
                  </a:cubicBezTo>
                  <a:cubicBezTo>
                    <a:pt x="8647" y="1896"/>
                    <a:pt x="13225" y="0"/>
                    <a:pt x="17999" y="0"/>
                  </a:cubicBezTo>
                  <a:close/>
                </a:path>
              </a:pathLst>
            </a:custGeom>
            <a:solidFill>
              <a:srgbClr val="FCFCFC"/>
            </a:solidFill>
            <a:ln cap="sq">
              <a:noFill/>
              <a:prstDash val="solid"/>
              <a:miter/>
            </a:ln>
          </p:spPr>
        </p:sp>
        <p:sp>
          <p:nvSpPr>
            <p:cNvPr name="TextBox 4" id="4"/>
            <p:cNvSpPr txBox="true"/>
            <p:nvPr/>
          </p:nvSpPr>
          <p:spPr>
            <a:xfrm>
              <a:off x="0" y="19050"/>
              <a:ext cx="1962951" cy="629906"/>
            </a:xfrm>
            <a:prstGeom prst="rect">
              <a:avLst/>
            </a:prstGeom>
          </p:spPr>
          <p:txBody>
            <a:bodyPr anchor="ctr" rtlCol="false" tIns="50800" lIns="50800" bIns="50800" rIns="50800"/>
            <a:lstStyle/>
            <a:p>
              <a:pPr algn="ctr" marL="0" indent="0" lvl="0">
                <a:lnSpc>
                  <a:spcPts val="1543"/>
                </a:lnSpc>
              </a:pPr>
            </a:p>
          </p:txBody>
        </p:sp>
      </p:grpSp>
      <p:sp>
        <p:nvSpPr>
          <p:cNvPr name="TextBox 5" id="5"/>
          <p:cNvSpPr txBox="true"/>
          <p:nvPr/>
        </p:nvSpPr>
        <p:spPr>
          <a:xfrm rot="0">
            <a:off x="1028700" y="3531704"/>
            <a:ext cx="7782203" cy="2411391"/>
          </a:xfrm>
          <a:prstGeom prst="rect">
            <a:avLst/>
          </a:prstGeom>
        </p:spPr>
        <p:txBody>
          <a:bodyPr anchor="t" rtlCol="false" tIns="0" lIns="0" bIns="0" rIns="0">
            <a:spAutoFit/>
          </a:bodyPr>
          <a:lstStyle/>
          <a:p>
            <a:pPr algn="l" marL="0" indent="0" lvl="0">
              <a:lnSpc>
                <a:spcPts val="6064"/>
              </a:lnSpc>
            </a:pPr>
            <a:r>
              <a:rPr lang="en-US" b="true" sz="6521" spc="-65">
                <a:solidFill>
                  <a:srgbClr val="FCFCFC"/>
                </a:solidFill>
                <a:latin typeface="Poppins Bold"/>
                <a:ea typeface="Poppins Bold"/>
                <a:cs typeface="Poppins Bold"/>
                <a:sym typeface="Poppins Bold"/>
              </a:rPr>
              <a:t>WEBSITE PROTECTION WORKFLOW</a:t>
            </a:r>
          </a:p>
        </p:txBody>
      </p:sp>
      <p:sp>
        <p:nvSpPr>
          <p:cNvPr name="Freeform 6" id="6"/>
          <p:cNvSpPr/>
          <p:nvPr/>
        </p:nvSpPr>
        <p:spPr>
          <a:xfrm flipH="false" flipV="false" rot="0">
            <a:off x="17657728" y="8762957"/>
            <a:ext cx="1745231" cy="955117"/>
          </a:xfrm>
          <a:custGeom>
            <a:avLst/>
            <a:gdLst/>
            <a:ahLst/>
            <a:cxnLst/>
            <a:rect r="r" b="b" t="t" l="l"/>
            <a:pathLst>
              <a:path h="955117" w="1745231">
                <a:moveTo>
                  <a:pt x="0" y="0"/>
                </a:moveTo>
                <a:lnTo>
                  <a:pt x="1745230" y="0"/>
                </a:lnTo>
                <a:lnTo>
                  <a:pt x="1745230" y="955118"/>
                </a:lnTo>
                <a:lnTo>
                  <a:pt x="0" y="9551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147617" y="1043652"/>
            <a:ext cx="1745231" cy="955117"/>
          </a:xfrm>
          <a:custGeom>
            <a:avLst/>
            <a:gdLst/>
            <a:ahLst/>
            <a:cxnLst/>
            <a:rect r="r" b="b" t="t" l="l"/>
            <a:pathLst>
              <a:path h="955117" w="1745231">
                <a:moveTo>
                  <a:pt x="0" y="0"/>
                </a:moveTo>
                <a:lnTo>
                  <a:pt x="1745230" y="0"/>
                </a:lnTo>
                <a:lnTo>
                  <a:pt x="1745230"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260958" y="5885714"/>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001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4"/>
            <a:stretch>
              <a:fillRect l="0" t="0" r="0" b="0"/>
            </a:stretch>
          </a:blipFill>
        </p:spPr>
      </p:sp>
      <p:sp>
        <p:nvSpPr>
          <p:cNvPr name="Freeform 10" id="10"/>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sp>
        <p:nvSpPr>
          <p:cNvPr name="TextBox 11" id="11"/>
          <p:cNvSpPr txBox="true"/>
          <p:nvPr/>
        </p:nvSpPr>
        <p:spPr>
          <a:xfrm rot="0">
            <a:off x="500051" y="7175846"/>
            <a:ext cx="7053830" cy="2085910"/>
          </a:xfrm>
          <a:prstGeom prst="rect">
            <a:avLst/>
          </a:prstGeom>
        </p:spPr>
        <p:txBody>
          <a:bodyPr anchor="t" rtlCol="false" tIns="0" lIns="0" bIns="0" rIns="0">
            <a:spAutoFit/>
          </a:bodyPr>
          <a:lstStyle/>
          <a:p>
            <a:pPr algn="l" marL="0" indent="0" lvl="0">
              <a:lnSpc>
                <a:spcPts val="2096"/>
              </a:lnSpc>
              <a:spcBef>
                <a:spcPct val="0"/>
              </a:spcBef>
            </a:pPr>
            <a:r>
              <a:rPr lang="en-US" sz="1996" strike="noStrike" u="none">
                <a:solidFill>
                  <a:srgbClr val="1F191A"/>
                </a:solidFill>
                <a:latin typeface="Poppins Light"/>
                <a:ea typeface="Poppins Light"/>
                <a:cs typeface="Poppins Light"/>
                <a:sym typeface="Poppins Light"/>
              </a:rPr>
              <a:t>Automatic protection and manual scans trigger URL analysis. The Random Forest model evaluates URL and hostname features, while contextual checks consider suspicious tokens, redirects, punycode/IP destinations, and other high-risk signals. PhishGuard then shows a clear risk level and explanation. Continue Once allows temporary access without saving trust, while trusted-site choices remain reversible.</a:t>
            </a:r>
          </a:p>
        </p:txBody>
      </p:sp>
      <p:grpSp>
        <p:nvGrpSpPr>
          <p:cNvPr name="Group 12" id="12"/>
          <p:cNvGrpSpPr/>
          <p:nvPr/>
        </p:nvGrpSpPr>
        <p:grpSpPr>
          <a:xfrm rot="0">
            <a:off x="13016336" y="161481"/>
            <a:ext cx="2391678" cy="510325"/>
            <a:chOff x="0" y="0"/>
            <a:chExt cx="629907" cy="134407"/>
          </a:xfrm>
        </p:grpSpPr>
        <p:sp>
          <p:nvSpPr>
            <p:cNvPr name="Freeform 13" id="13"/>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4" id="14"/>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5" id="15"/>
          <p:cNvSpPr txBox="true"/>
          <p:nvPr/>
        </p:nvSpPr>
        <p:spPr>
          <a:xfrm rot="0">
            <a:off x="13218179"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grpSp>
        <p:nvGrpSpPr>
          <p:cNvPr name="Group 16" id="16"/>
          <p:cNvGrpSpPr/>
          <p:nvPr/>
        </p:nvGrpSpPr>
        <p:grpSpPr>
          <a:xfrm rot="0">
            <a:off x="1028700" y="1028700"/>
            <a:ext cx="2391678" cy="510325"/>
            <a:chOff x="0" y="0"/>
            <a:chExt cx="629907" cy="134407"/>
          </a:xfrm>
        </p:grpSpPr>
        <p:sp>
          <p:nvSpPr>
            <p:cNvPr name="Freeform 17" id="17"/>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8" id="18"/>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9" id="19"/>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sp>
        <p:nvSpPr>
          <p:cNvPr name="Freeform 2" id="2"/>
          <p:cNvSpPr/>
          <p:nvPr/>
        </p:nvSpPr>
        <p:spPr>
          <a:xfrm flipH="false" flipV="false" rot="0">
            <a:off x="6836406" y="1806765"/>
            <a:ext cx="9990570" cy="6673469"/>
          </a:xfrm>
          <a:custGeom>
            <a:avLst/>
            <a:gdLst/>
            <a:ahLst/>
            <a:cxnLst/>
            <a:rect r="r" b="b" t="t" l="l"/>
            <a:pathLst>
              <a:path h="6673469" w="9990570">
                <a:moveTo>
                  <a:pt x="0" y="0"/>
                </a:moveTo>
                <a:lnTo>
                  <a:pt x="9990571" y="0"/>
                </a:lnTo>
                <a:lnTo>
                  <a:pt x="9990571" y="6673470"/>
                </a:lnTo>
                <a:lnTo>
                  <a:pt x="0" y="6673470"/>
                </a:lnTo>
                <a:lnTo>
                  <a:pt x="0" y="0"/>
                </a:lnTo>
                <a:close/>
              </a:path>
            </a:pathLst>
          </a:custGeom>
          <a:blipFill>
            <a:blip r:embed="rId2"/>
            <a:stretch>
              <a:fillRect l="0" t="-24852" r="0" b="-24852"/>
            </a:stretch>
          </a:blipFill>
        </p:spPr>
      </p:sp>
      <p:sp>
        <p:nvSpPr>
          <p:cNvPr name="Freeform 3" id="3"/>
          <p:cNvSpPr/>
          <p:nvPr/>
        </p:nvSpPr>
        <p:spPr>
          <a:xfrm flipH="false" flipV="false" rot="0">
            <a:off x="17566772" y="606496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356034" y="58390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sp>
        <p:nvSpPr>
          <p:cNvPr name="TextBox 7" id="7"/>
          <p:cNvSpPr txBox="true"/>
          <p:nvPr/>
        </p:nvSpPr>
        <p:spPr>
          <a:xfrm rot="0">
            <a:off x="1028700" y="2767776"/>
            <a:ext cx="6659921" cy="2243899"/>
          </a:xfrm>
          <a:prstGeom prst="rect">
            <a:avLst/>
          </a:prstGeom>
        </p:spPr>
        <p:txBody>
          <a:bodyPr anchor="t" rtlCol="false" tIns="0" lIns="0" bIns="0" rIns="0">
            <a:spAutoFit/>
          </a:bodyPr>
          <a:lstStyle/>
          <a:p>
            <a:pPr algn="l" marL="0" indent="0" lvl="0">
              <a:lnSpc>
                <a:spcPts val="5696"/>
              </a:lnSpc>
            </a:pPr>
            <a:r>
              <a:rPr lang="en-US" b="true" sz="6125" spc="-61">
                <a:solidFill>
                  <a:srgbClr val="343434"/>
                </a:solidFill>
                <a:latin typeface="Poppins Bold"/>
                <a:ea typeface="Poppins Bold"/>
                <a:cs typeface="Poppins Bold"/>
                <a:sym typeface="Poppins Bold"/>
              </a:rPr>
              <a:t>GMAIL PROTECTION WORKFLOW</a:t>
            </a:r>
          </a:p>
        </p:txBody>
      </p:sp>
      <p:sp>
        <p:nvSpPr>
          <p:cNvPr name="TextBox 8" id="8"/>
          <p:cNvSpPr txBox="true"/>
          <p:nvPr/>
        </p:nvSpPr>
        <p:spPr>
          <a:xfrm rot="0">
            <a:off x="13375" y="6987985"/>
            <a:ext cx="8115300" cy="3003550"/>
          </a:xfrm>
          <a:prstGeom prst="rect">
            <a:avLst/>
          </a:prstGeom>
        </p:spPr>
        <p:txBody>
          <a:bodyPr anchor="t" rtlCol="false" tIns="0" lIns="0" bIns="0" rIns="0">
            <a:spAutoFit/>
          </a:bodyPr>
          <a:lstStyle/>
          <a:p>
            <a:pPr algn="l" marL="0" indent="0" lvl="0">
              <a:lnSpc>
                <a:spcPts val="1999"/>
              </a:lnSpc>
              <a:spcBef>
                <a:spcPct val="0"/>
              </a:spcBef>
            </a:pPr>
            <a:r>
              <a:rPr lang="en-US" b="true" sz="1999" strike="noStrike" u="none">
                <a:solidFill>
                  <a:srgbClr val="343434"/>
                </a:solidFill>
                <a:latin typeface="Poppins Bold"/>
                <a:ea typeface="Poppins Bold"/>
                <a:cs typeface="Poppins Bold"/>
                <a:sym typeface="Poppins Bold"/>
              </a:rPr>
              <a:t>① Message Detection</a:t>
            </a:r>
            <a:r>
              <a:rPr lang="en-US" sz="1999" strike="noStrike" u="none">
                <a:solidFill>
                  <a:srgbClr val="343434"/>
                </a:solidFill>
                <a:latin typeface="Poppins Light"/>
                <a:ea typeface="Poppins Light"/>
                <a:cs typeface="Poppins Light"/>
                <a:sym typeface="Poppins Light"/>
              </a:rPr>
              <a:t> — Automatically scans the Gmail message currently open.</a:t>
            </a:r>
          </a:p>
          <a:p>
            <a:pPr algn="l" marL="0" indent="0" lvl="0">
              <a:lnSpc>
                <a:spcPts val="1999"/>
              </a:lnSpc>
              <a:spcBef>
                <a:spcPct val="0"/>
              </a:spcBef>
            </a:pPr>
            <a:r>
              <a:rPr lang="en-US" b="true" sz="1999" strike="noStrike" u="none">
                <a:solidFill>
                  <a:srgbClr val="343434"/>
                </a:solidFill>
                <a:latin typeface="Poppins Bold"/>
                <a:ea typeface="Poppins Bold"/>
                <a:cs typeface="Poppins Bold"/>
                <a:sym typeface="Poppins Bold"/>
              </a:rPr>
              <a:t>② Evidence Evaluation</a:t>
            </a:r>
            <a:r>
              <a:rPr lang="en-US" sz="1999" strike="noStrike" u="none">
                <a:solidFill>
                  <a:srgbClr val="343434"/>
                </a:solidFill>
                <a:latin typeface="Poppins Light"/>
                <a:ea typeface="Poppins Light"/>
                <a:cs typeface="Poppins Light"/>
                <a:sym typeface="Poppins Light"/>
              </a:rPr>
              <a:t> — Analyses message text, sender identity, and visible links.</a:t>
            </a:r>
          </a:p>
          <a:p>
            <a:pPr algn="l" marL="0" indent="0" lvl="0">
              <a:lnSpc>
                <a:spcPts val="1999"/>
              </a:lnSpc>
              <a:spcBef>
                <a:spcPct val="0"/>
              </a:spcBef>
            </a:pPr>
            <a:r>
              <a:rPr lang="en-US" b="true" sz="1999" strike="noStrike" u="none">
                <a:solidFill>
                  <a:srgbClr val="343434"/>
                </a:solidFill>
                <a:latin typeface="Poppins Bold"/>
                <a:ea typeface="Poppins Bold"/>
                <a:cs typeface="Poppins Bold"/>
                <a:sym typeface="Poppins Bold"/>
              </a:rPr>
              <a:t>③ Risk Banner</a:t>
            </a:r>
            <a:r>
              <a:rPr lang="en-US" sz="1999" strike="noStrike" u="none">
                <a:solidFill>
                  <a:srgbClr val="343434"/>
                </a:solidFill>
                <a:latin typeface="Poppins Light"/>
                <a:ea typeface="Poppins Light"/>
                <a:cs typeface="Poppins Light"/>
                <a:sym typeface="Poppins Light"/>
              </a:rPr>
              <a:t> — Shows a clear risk level and explanation inside Gmail.</a:t>
            </a:r>
          </a:p>
          <a:p>
            <a:pPr algn="l" marL="0" indent="0" lvl="0">
              <a:lnSpc>
                <a:spcPts val="1999"/>
              </a:lnSpc>
              <a:spcBef>
                <a:spcPct val="0"/>
              </a:spcBef>
            </a:pPr>
            <a:r>
              <a:rPr lang="en-US" b="true" sz="1999" strike="noStrike" u="none">
                <a:solidFill>
                  <a:srgbClr val="343434"/>
                </a:solidFill>
                <a:latin typeface="Poppins Bold"/>
                <a:ea typeface="Poppins Bold"/>
                <a:cs typeface="Poppins Bold"/>
                <a:sym typeface="Poppins Bold"/>
              </a:rPr>
              <a:t>④ Scoped Dismissal</a:t>
            </a:r>
            <a:r>
              <a:rPr lang="en-US" sz="1999" strike="noStrike" u="none">
                <a:solidFill>
                  <a:srgbClr val="343434"/>
                </a:solidFill>
                <a:latin typeface="Poppins Light"/>
                <a:ea typeface="Poppins Light"/>
                <a:cs typeface="Poppins Light"/>
                <a:sym typeface="Poppins Light"/>
              </a:rPr>
              <a:t> — Stays dismissed for that message until another message is opened or the page is refreshed.</a:t>
            </a:r>
          </a:p>
          <a:p>
            <a:pPr algn="l" marL="0" indent="0" lvl="0">
              <a:lnSpc>
                <a:spcPts val="1999"/>
              </a:lnSpc>
              <a:spcBef>
                <a:spcPct val="0"/>
              </a:spcBef>
            </a:pPr>
            <a:r>
              <a:rPr lang="en-US" b="true" sz="1999" strike="noStrike" u="none">
                <a:solidFill>
                  <a:srgbClr val="343434"/>
                </a:solidFill>
                <a:latin typeface="Poppins Bold"/>
                <a:ea typeface="Poppins Bold"/>
                <a:cs typeface="Poppins Bold"/>
                <a:sym typeface="Poppins Bold"/>
              </a:rPr>
              <a:t>⑤ Bounded Trust</a:t>
            </a:r>
            <a:r>
              <a:rPr lang="en-US" sz="1999" strike="noStrike" u="none">
                <a:solidFill>
                  <a:srgbClr val="343434"/>
                </a:solidFill>
                <a:latin typeface="Poppins Light"/>
                <a:ea typeface="Poppins Light"/>
                <a:cs typeface="Poppins Light"/>
                <a:sym typeface="Poppins Light"/>
              </a:rPr>
              <a:t> — Trusted sender/domain choices reduce user-specific risk only when severe evidence is absent.</a:t>
            </a:r>
          </a:p>
          <a:p>
            <a:pPr algn="l" marL="0" indent="0" lvl="0">
              <a:lnSpc>
                <a:spcPts val="1999"/>
              </a:lnSpc>
              <a:spcBef>
                <a:spcPct val="0"/>
              </a:spcBef>
            </a:pPr>
            <a:r>
              <a:rPr lang="en-US" b="true" sz="1999" strike="noStrike" u="none">
                <a:solidFill>
                  <a:srgbClr val="343434"/>
                </a:solidFill>
                <a:latin typeface="Poppins Bold"/>
                <a:ea typeface="Poppins Bold"/>
                <a:cs typeface="Poppins Bold"/>
                <a:sym typeface="Poppins Bold"/>
              </a:rPr>
              <a:t>⑥ Stale-Response Protection</a:t>
            </a:r>
            <a:r>
              <a:rPr lang="en-US" sz="1999" strike="noStrike" u="none">
                <a:solidFill>
                  <a:srgbClr val="343434"/>
                </a:solidFill>
                <a:latin typeface="Poppins Light"/>
                <a:ea typeface="Poppins Light"/>
                <a:cs typeface="Poppins Light"/>
                <a:sym typeface="Poppins Light"/>
              </a:rPr>
              <a:t> — Ignores outdated scan results when the user switches messages.</a:t>
            </a:r>
          </a:p>
        </p:txBody>
      </p:sp>
      <p:sp>
        <p:nvSpPr>
          <p:cNvPr name="TextBox 9" id="9"/>
          <p:cNvSpPr txBox="true"/>
          <p:nvPr/>
        </p:nvSpPr>
        <p:spPr>
          <a:xfrm rot="0">
            <a:off x="879179" y="5196216"/>
            <a:ext cx="6383692" cy="868745"/>
          </a:xfrm>
          <a:prstGeom prst="rect">
            <a:avLst/>
          </a:prstGeom>
        </p:spPr>
        <p:txBody>
          <a:bodyPr anchor="t" rtlCol="false" tIns="0" lIns="0" bIns="0" rIns="0">
            <a:spAutoFit/>
          </a:bodyPr>
          <a:lstStyle/>
          <a:p>
            <a:pPr algn="l" marL="0" indent="0" lvl="0">
              <a:lnSpc>
                <a:spcPts val="2304"/>
              </a:lnSpc>
            </a:pPr>
            <a:r>
              <a:rPr lang="en-US" sz="1745">
                <a:solidFill>
                  <a:srgbClr val="1F191A"/>
                </a:solidFill>
                <a:latin typeface="Poppins Light"/>
                <a:ea typeface="Poppins Light"/>
                <a:cs typeface="Poppins Light"/>
                <a:sym typeface="Poppins Light"/>
              </a:rPr>
              <a:t>How PhishGuard scans the active Gmail message and applies bounded trust controls to protect users from email-based phishing threats.</a:t>
            </a:r>
          </a:p>
        </p:txBody>
      </p:sp>
      <p:grpSp>
        <p:nvGrpSpPr>
          <p:cNvPr name="Group 10" id="10"/>
          <p:cNvGrpSpPr/>
          <p:nvPr/>
        </p:nvGrpSpPr>
        <p:grpSpPr>
          <a:xfrm rot="0">
            <a:off x="12968711" y="161481"/>
            <a:ext cx="2391678" cy="510325"/>
            <a:chOff x="0" y="0"/>
            <a:chExt cx="629907" cy="134407"/>
          </a:xfrm>
        </p:grpSpPr>
        <p:sp>
          <p:nvSpPr>
            <p:cNvPr name="Freeform 11" id="11"/>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2" id="12"/>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3" id="13"/>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grpSp>
        <p:nvGrpSpPr>
          <p:cNvPr name="Group 14" id="14"/>
          <p:cNvGrpSpPr/>
          <p:nvPr/>
        </p:nvGrpSpPr>
        <p:grpSpPr>
          <a:xfrm rot="0">
            <a:off x="1028700" y="1028700"/>
            <a:ext cx="2391678" cy="510325"/>
            <a:chOff x="0" y="0"/>
            <a:chExt cx="629907" cy="134407"/>
          </a:xfrm>
        </p:grpSpPr>
        <p:sp>
          <p:nvSpPr>
            <p:cNvPr name="Freeform 15" id="15"/>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6" id="16"/>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7" id="17"/>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10828697" y="5046442"/>
            <a:ext cx="6550220" cy="2284611"/>
            <a:chOff x="0" y="0"/>
            <a:chExt cx="1929919" cy="673124"/>
          </a:xfrm>
        </p:grpSpPr>
        <p:sp>
          <p:nvSpPr>
            <p:cNvPr name="Freeform 3" id="3"/>
            <p:cNvSpPr/>
            <p:nvPr/>
          </p:nvSpPr>
          <p:spPr>
            <a:xfrm flipH="false" flipV="false" rot="0">
              <a:off x="0" y="0"/>
              <a:ext cx="1929919" cy="673124"/>
            </a:xfrm>
            <a:custGeom>
              <a:avLst/>
              <a:gdLst/>
              <a:ahLst/>
              <a:cxnLst/>
              <a:rect r="r" b="b" t="t" l="l"/>
              <a:pathLst>
                <a:path h="673124" w="1929919">
                  <a:moveTo>
                    <a:pt x="22457" y="0"/>
                  </a:moveTo>
                  <a:lnTo>
                    <a:pt x="1907462" y="0"/>
                  </a:lnTo>
                  <a:cubicBezTo>
                    <a:pt x="1919864" y="0"/>
                    <a:pt x="1929919" y="10054"/>
                    <a:pt x="1929919" y="22457"/>
                  </a:cubicBezTo>
                  <a:lnTo>
                    <a:pt x="1929919" y="650668"/>
                  </a:lnTo>
                  <a:cubicBezTo>
                    <a:pt x="1929919" y="663070"/>
                    <a:pt x="1919864" y="673124"/>
                    <a:pt x="1907462" y="673124"/>
                  </a:cubicBezTo>
                  <a:lnTo>
                    <a:pt x="22457" y="673124"/>
                  </a:lnTo>
                  <a:cubicBezTo>
                    <a:pt x="10054" y="673124"/>
                    <a:pt x="0" y="663070"/>
                    <a:pt x="0" y="650668"/>
                  </a:cubicBezTo>
                  <a:lnTo>
                    <a:pt x="0" y="22457"/>
                  </a:lnTo>
                  <a:cubicBezTo>
                    <a:pt x="0" y="10054"/>
                    <a:pt x="10054" y="0"/>
                    <a:pt x="22457" y="0"/>
                  </a:cubicBezTo>
                  <a:close/>
                </a:path>
              </a:pathLst>
            </a:custGeom>
            <a:ln w="19050" cap="sq">
              <a:solidFill>
                <a:srgbClr val="1F191A"/>
              </a:solidFill>
              <a:prstDash val="solid"/>
              <a:miter/>
            </a:ln>
          </p:spPr>
        </p:sp>
        <p:sp>
          <p:nvSpPr>
            <p:cNvPr name="TextBox 4" id="4"/>
            <p:cNvSpPr txBox="true"/>
            <p:nvPr/>
          </p:nvSpPr>
          <p:spPr>
            <a:xfrm>
              <a:off x="0" y="19050"/>
              <a:ext cx="1929919" cy="654074"/>
            </a:xfrm>
            <a:prstGeom prst="rect">
              <a:avLst/>
            </a:prstGeom>
          </p:spPr>
          <p:txBody>
            <a:bodyPr anchor="ctr" rtlCol="false" tIns="50800" lIns="50800" bIns="50800" rIns="50800"/>
            <a:lstStyle/>
            <a:p>
              <a:pPr algn="ctr" marL="0" indent="0" lvl="0">
                <a:lnSpc>
                  <a:spcPts val="1543"/>
                </a:lnSpc>
              </a:pPr>
            </a:p>
          </p:txBody>
        </p:sp>
      </p:grpSp>
      <p:sp>
        <p:nvSpPr>
          <p:cNvPr name="TextBox 5" id="5"/>
          <p:cNvSpPr txBox="true"/>
          <p:nvPr/>
        </p:nvSpPr>
        <p:spPr>
          <a:xfrm rot="0">
            <a:off x="10943568" y="5153025"/>
            <a:ext cx="6320477" cy="1938909"/>
          </a:xfrm>
          <a:prstGeom prst="rect">
            <a:avLst/>
          </a:prstGeom>
        </p:spPr>
        <p:txBody>
          <a:bodyPr anchor="t" rtlCol="false" tIns="0" lIns="0" bIns="0" rIns="0">
            <a:spAutoFit/>
          </a:bodyPr>
          <a:lstStyle/>
          <a:p>
            <a:pPr algn="l" marL="0" indent="0" lvl="0">
              <a:lnSpc>
                <a:spcPts val="1937"/>
              </a:lnSpc>
              <a:spcBef>
                <a:spcPct val="0"/>
              </a:spcBef>
            </a:pPr>
            <a:r>
              <a:rPr lang="en-US" b="true" sz="1899" strike="noStrike" u="none">
                <a:solidFill>
                  <a:srgbClr val="1F191A"/>
                </a:solidFill>
                <a:latin typeface="Poppins Bold"/>
                <a:ea typeface="Poppins Bold"/>
                <a:cs typeface="Poppins Bold"/>
                <a:sym typeface="Poppins Bold"/>
              </a:rPr>
              <a:t>Mandatory MFA &amp; Recovery Codes</a:t>
            </a:r>
            <a:r>
              <a:rPr lang="en-US" sz="1899" strike="noStrike" u="none">
                <a:solidFill>
                  <a:srgbClr val="1F191A"/>
                </a:solidFill>
                <a:latin typeface="Poppins Light"/>
                <a:ea typeface="Poppins Light"/>
                <a:cs typeface="Poppins Light"/>
                <a:sym typeface="Poppins Light"/>
              </a:rPr>
              <a:t> — TOTP authentication is required after password login, with one-time recovery codes for backup access.</a:t>
            </a:r>
          </a:p>
          <a:p>
            <a:pPr algn="l" marL="0" indent="0" lvl="0">
              <a:lnSpc>
                <a:spcPts val="1937"/>
              </a:lnSpc>
              <a:spcBef>
                <a:spcPct val="0"/>
              </a:spcBef>
            </a:pPr>
            <a:r>
              <a:rPr lang="en-US" b="true" sz="1899" strike="noStrike" u="none">
                <a:solidFill>
                  <a:srgbClr val="1F191A"/>
                </a:solidFill>
                <a:latin typeface="Poppins Bold"/>
                <a:ea typeface="Poppins Bold"/>
                <a:cs typeface="Poppins Bold"/>
                <a:sym typeface="Poppins Bold"/>
              </a:rPr>
              <a:t>Dashboard &amp; Local Scan History</a:t>
            </a:r>
            <a:r>
              <a:rPr lang="en-US" sz="1899" strike="noStrike" u="none">
                <a:solidFill>
                  <a:srgbClr val="1F191A"/>
                </a:solidFill>
                <a:latin typeface="Poppins Light"/>
                <a:ea typeface="Poppins Light"/>
                <a:cs typeface="Poppins Light"/>
                <a:sym typeface="Poppins Light"/>
              </a:rPr>
              <a:t> — User-scoped website and email scan history with timestamps, risk levels, and recent security activity.</a:t>
            </a:r>
          </a:p>
          <a:p>
            <a:pPr algn="l" marL="0" indent="0" lvl="0">
              <a:lnSpc>
                <a:spcPts val="1937"/>
              </a:lnSpc>
              <a:spcBef>
                <a:spcPct val="0"/>
              </a:spcBef>
            </a:pPr>
            <a:r>
              <a:rPr lang="en-US" b="true" sz="1899" strike="noStrike" u="none">
                <a:solidFill>
                  <a:srgbClr val="1F191A"/>
                </a:solidFill>
                <a:latin typeface="Poppins Bold"/>
                <a:ea typeface="Poppins Bold"/>
                <a:cs typeface="Poppins Bold"/>
                <a:sym typeface="Poppins Bold"/>
              </a:rPr>
              <a:t>PDF Reports</a:t>
            </a:r>
            <a:r>
              <a:rPr lang="en-US" sz="1899" strike="noStrike" u="none">
                <a:solidFill>
                  <a:srgbClr val="1F191A"/>
                </a:solidFill>
                <a:latin typeface="Poppins Light"/>
                <a:ea typeface="Poppins Light"/>
                <a:cs typeface="Poppins Light"/>
                <a:sym typeface="Poppins Light"/>
              </a:rPr>
              <a:t> — Export individual scan results or date-range summaries as authenticated PDF reports.</a:t>
            </a:r>
          </a:p>
        </p:txBody>
      </p:sp>
      <p:sp>
        <p:nvSpPr>
          <p:cNvPr name="Freeform 6" id="6"/>
          <p:cNvSpPr/>
          <p:nvPr/>
        </p:nvSpPr>
        <p:spPr>
          <a:xfrm flipH="false" flipV="false" rot="0">
            <a:off x="148559" y="583908"/>
            <a:ext cx="9784456" cy="9784456"/>
          </a:xfrm>
          <a:custGeom>
            <a:avLst/>
            <a:gdLst/>
            <a:ahLst/>
            <a:cxnLst/>
            <a:rect r="r" b="b" t="t" l="l"/>
            <a:pathLst>
              <a:path h="9784456" w="9784456">
                <a:moveTo>
                  <a:pt x="0" y="0"/>
                </a:moveTo>
                <a:lnTo>
                  <a:pt x="9784457" y="0"/>
                </a:lnTo>
                <a:lnTo>
                  <a:pt x="9784457" y="9784456"/>
                </a:lnTo>
                <a:lnTo>
                  <a:pt x="0" y="9784456"/>
                </a:lnTo>
                <a:lnTo>
                  <a:pt x="0" y="0"/>
                </a:lnTo>
                <a:close/>
              </a:path>
            </a:pathLst>
          </a:custGeom>
          <a:blipFill>
            <a:blip r:embed="rId2"/>
            <a:stretch>
              <a:fillRect l="0" t="0" r="0" b="0"/>
            </a:stretch>
          </a:blipFill>
        </p:spPr>
      </p:sp>
      <p:sp>
        <p:nvSpPr>
          <p:cNvPr name="TextBox 7" id="7"/>
          <p:cNvSpPr txBox="true"/>
          <p:nvPr/>
        </p:nvSpPr>
        <p:spPr>
          <a:xfrm rot="0">
            <a:off x="9587858" y="7462686"/>
            <a:ext cx="8171329" cy="1836420"/>
          </a:xfrm>
          <a:prstGeom prst="rect">
            <a:avLst/>
          </a:prstGeom>
        </p:spPr>
        <p:txBody>
          <a:bodyPr anchor="t" rtlCol="false" tIns="0" lIns="0" bIns="0" rIns="0">
            <a:spAutoFit/>
          </a:bodyPr>
          <a:lstStyle/>
          <a:p>
            <a:pPr algn="l" marL="0" indent="0" lvl="0">
              <a:lnSpc>
                <a:spcPts val="2039"/>
              </a:lnSpc>
              <a:spcBef>
                <a:spcPct val="0"/>
              </a:spcBef>
            </a:pPr>
            <a:r>
              <a:rPr lang="en-US" b="true" sz="1999" strike="noStrike" u="none">
                <a:solidFill>
                  <a:srgbClr val="1F191A"/>
                </a:solidFill>
                <a:latin typeface="Poppins Bold"/>
                <a:ea typeface="Poppins Bold"/>
                <a:cs typeface="Poppins Bold"/>
                <a:sym typeface="Poppins Bold"/>
              </a:rPr>
              <a:t>Client-Side Encrypted Password Vault</a:t>
            </a:r>
            <a:r>
              <a:rPr lang="en-US" sz="1999" strike="noStrike" u="none">
                <a:solidFill>
                  <a:srgbClr val="1F191A"/>
                </a:solidFill>
                <a:latin typeface="Poppins Light"/>
                <a:ea typeface="Poppins Light"/>
                <a:cs typeface="Poppins Light"/>
                <a:sym typeface="Poppins Light"/>
              </a:rPr>
              <a:t> — Credentials are encrypted in the browser before synchronization; plaintext never reaches the backend.</a:t>
            </a:r>
          </a:p>
          <a:p>
            <a:pPr algn="l" marL="0" indent="0" lvl="0">
              <a:lnSpc>
                <a:spcPts val="2039"/>
              </a:lnSpc>
              <a:spcBef>
                <a:spcPct val="0"/>
              </a:spcBef>
            </a:pPr>
            <a:r>
              <a:rPr lang="en-US" b="true" sz="1999" strike="noStrike" u="none">
                <a:solidFill>
                  <a:srgbClr val="1F191A"/>
                </a:solidFill>
                <a:latin typeface="Poppins Bold"/>
                <a:ea typeface="Poppins Bold"/>
                <a:cs typeface="Poppins Bold"/>
                <a:sym typeface="Poppins Bold"/>
              </a:rPr>
              <a:t>Personal Trust &amp; Settings</a:t>
            </a:r>
            <a:r>
              <a:rPr lang="en-US" sz="1999" strike="noStrike" u="none">
                <a:solidFill>
                  <a:srgbClr val="1F191A"/>
                </a:solidFill>
                <a:latin typeface="Poppins Light"/>
                <a:ea typeface="Poppins Light"/>
                <a:cs typeface="Poppins Light"/>
                <a:sym typeface="Poppins Light"/>
              </a:rPr>
              <a:t> — Manage trusted websites, senders/domains, protection settings, and authenticated logout.</a:t>
            </a:r>
          </a:p>
          <a:p>
            <a:pPr algn="l" marL="0" indent="0" lvl="0">
              <a:lnSpc>
                <a:spcPts val="2039"/>
              </a:lnSpc>
              <a:spcBef>
                <a:spcPct val="0"/>
              </a:spcBef>
            </a:pPr>
            <a:r>
              <a:rPr lang="en-US" sz="1999" strike="noStrike" u="none">
                <a:solidFill>
                  <a:srgbClr val="1F191A"/>
                </a:solidFill>
                <a:latin typeface="Poppins Light"/>
                <a:ea typeface="Poppins Light"/>
                <a:cs typeface="Poppins Light"/>
                <a:sym typeface="Poppins Light"/>
              </a:rPr>
              <a:t>These controls support the phishing detector without replacing its core ML decision.</a:t>
            </a:r>
          </a:p>
        </p:txBody>
      </p:sp>
      <p:sp>
        <p:nvSpPr>
          <p:cNvPr name="TextBox 8" id="8"/>
          <p:cNvSpPr txBox="true"/>
          <p:nvPr/>
        </p:nvSpPr>
        <p:spPr>
          <a:xfrm rot="0">
            <a:off x="11414312" y="3187595"/>
            <a:ext cx="7025075" cy="1366336"/>
          </a:xfrm>
          <a:prstGeom prst="rect">
            <a:avLst/>
          </a:prstGeom>
        </p:spPr>
        <p:txBody>
          <a:bodyPr anchor="t" rtlCol="false" tIns="0" lIns="0" bIns="0" rIns="0">
            <a:spAutoFit/>
          </a:bodyPr>
          <a:lstStyle/>
          <a:p>
            <a:pPr algn="l" marL="0" indent="0" lvl="0">
              <a:lnSpc>
                <a:spcPts val="5023"/>
              </a:lnSpc>
            </a:pPr>
            <a:r>
              <a:rPr lang="en-US" b="true" sz="5402" spc="-54">
                <a:solidFill>
                  <a:srgbClr val="343434"/>
                </a:solidFill>
                <a:latin typeface="Poppins Bold"/>
                <a:ea typeface="Poppins Bold"/>
                <a:cs typeface="Poppins Bold"/>
                <a:sym typeface="Poppins Bold"/>
              </a:rPr>
              <a:t>SECURITY &amp;</a:t>
            </a:r>
          </a:p>
          <a:p>
            <a:pPr algn="l" marL="0" indent="0" lvl="0">
              <a:lnSpc>
                <a:spcPts val="5023"/>
              </a:lnSpc>
            </a:pPr>
            <a:r>
              <a:rPr lang="en-US" b="true" sz="5402" spc="-54">
                <a:solidFill>
                  <a:srgbClr val="343434"/>
                </a:solidFill>
                <a:latin typeface="Poppins Bold"/>
                <a:ea typeface="Poppins Bold"/>
                <a:cs typeface="Poppins Bold"/>
                <a:sym typeface="Poppins Bold"/>
              </a:rPr>
              <a:t>USER FEATURES</a:t>
            </a:r>
          </a:p>
        </p:txBody>
      </p:sp>
      <p:sp>
        <p:nvSpPr>
          <p:cNvPr name="Freeform 9" id="9"/>
          <p:cNvSpPr/>
          <p:nvPr/>
        </p:nvSpPr>
        <p:spPr>
          <a:xfrm flipH="false" flipV="false" rot="0">
            <a:off x="17566772" y="606496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6402678" y="687817"/>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grpSp>
        <p:nvGrpSpPr>
          <p:cNvPr name="Group 13" id="13"/>
          <p:cNvGrpSpPr/>
          <p:nvPr/>
        </p:nvGrpSpPr>
        <p:grpSpPr>
          <a:xfrm rot="0">
            <a:off x="12968711" y="161481"/>
            <a:ext cx="2391678" cy="510325"/>
            <a:chOff x="0" y="0"/>
            <a:chExt cx="629907" cy="134407"/>
          </a:xfrm>
        </p:grpSpPr>
        <p:sp>
          <p:nvSpPr>
            <p:cNvPr name="Freeform 14" id="14"/>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5" id="15"/>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6" id="16"/>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grpSp>
        <p:nvGrpSpPr>
          <p:cNvPr name="Group 17" id="17"/>
          <p:cNvGrpSpPr/>
          <p:nvPr/>
        </p:nvGrpSpPr>
        <p:grpSpPr>
          <a:xfrm rot="0">
            <a:off x="1019175" y="1028700"/>
            <a:ext cx="2391678" cy="510325"/>
            <a:chOff x="0" y="0"/>
            <a:chExt cx="629907" cy="134407"/>
          </a:xfrm>
        </p:grpSpPr>
        <p:sp>
          <p:nvSpPr>
            <p:cNvPr name="Freeform 18" id="18"/>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9" id="19"/>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20" id="20"/>
          <p:cNvSpPr txBox="true"/>
          <p:nvPr/>
        </p:nvSpPr>
        <p:spPr>
          <a:xfrm rot="0">
            <a:off x="1334853"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391678" cy="510325"/>
            <a:chOff x="0" y="0"/>
            <a:chExt cx="629907" cy="134407"/>
          </a:xfrm>
        </p:grpSpPr>
        <p:sp>
          <p:nvSpPr>
            <p:cNvPr name="Freeform 3" id="3"/>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4" id="4"/>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Freeform 5" id="5"/>
          <p:cNvSpPr/>
          <p:nvPr/>
        </p:nvSpPr>
        <p:spPr>
          <a:xfrm flipH="false" flipV="false" rot="0">
            <a:off x="5356034" y="58390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4"/>
            <a:stretch>
              <a:fillRect l="0" t="0" r="0" b="0"/>
            </a:stretch>
          </a:blipFill>
        </p:spPr>
      </p:sp>
      <p:sp>
        <p:nvSpPr>
          <p:cNvPr name="Freeform 8" id="8"/>
          <p:cNvSpPr/>
          <p:nvPr/>
        </p:nvSpPr>
        <p:spPr>
          <a:xfrm flipH="false" flipV="false" rot="0">
            <a:off x="10853105" y="2800597"/>
            <a:ext cx="7018326" cy="7018326"/>
          </a:xfrm>
          <a:custGeom>
            <a:avLst/>
            <a:gdLst/>
            <a:ahLst/>
            <a:cxnLst/>
            <a:rect r="r" b="b" t="t" l="l"/>
            <a:pathLst>
              <a:path h="7018326" w="7018326">
                <a:moveTo>
                  <a:pt x="0" y="0"/>
                </a:moveTo>
                <a:lnTo>
                  <a:pt x="7018326" y="0"/>
                </a:lnTo>
                <a:lnTo>
                  <a:pt x="7018326" y="7018326"/>
                </a:lnTo>
                <a:lnTo>
                  <a:pt x="0" y="7018326"/>
                </a:lnTo>
                <a:lnTo>
                  <a:pt x="0" y="0"/>
                </a:lnTo>
                <a:close/>
              </a:path>
            </a:pathLst>
          </a:custGeom>
          <a:blipFill>
            <a:blip r:embed="rId5"/>
            <a:stretch>
              <a:fillRect l="0" t="0" r="0" b="0"/>
            </a:stretch>
          </a:blipFill>
        </p:spPr>
      </p:sp>
      <p:sp>
        <p:nvSpPr>
          <p:cNvPr name="TextBox 9" id="9"/>
          <p:cNvSpPr txBox="true"/>
          <p:nvPr/>
        </p:nvSpPr>
        <p:spPr>
          <a:xfrm rot="0">
            <a:off x="789467" y="2011675"/>
            <a:ext cx="9913997" cy="3276340"/>
          </a:xfrm>
          <a:prstGeom prst="rect">
            <a:avLst/>
          </a:prstGeom>
        </p:spPr>
        <p:txBody>
          <a:bodyPr anchor="t" rtlCol="false" tIns="0" lIns="0" bIns="0" rIns="0">
            <a:spAutoFit/>
          </a:bodyPr>
          <a:lstStyle/>
          <a:p>
            <a:pPr algn="l" marL="0" indent="0" lvl="0">
              <a:lnSpc>
                <a:spcPts val="8103"/>
              </a:lnSpc>
            </a:pPr>
            <a:r>
              <a:rPr lang="en-US" b="true" sz="9762" spc="-488">
                <a:solidFill>
                  <a:srgbClr val="343434"/>
                </a:solidFill>
                <a:latin typeface="Poppins Bold"/>
                <a:ea typeface="Poppins Bold"/>
                <a:cs typeface="Poppins Bold"/>
                <a:sym typeface="Poppins Bold"/>
              </a:rPr>
              <a:t>WEBSITE MODEL:</a:t>
            </a:r>
          </a:p>
          <a:p>
            <a:pPr algn="l" marL="0" indent="0" lvl="0">
              <a:lnSpc>
                <a:spcPts val="8103"/>
              </a:lnSpc>
            </a:pPr>
            <a:r>
              <a:rPr lang="en-US" b="true" sz="9762" spc="-488">
                <a:solidFill>
                  <a:srgbClr val="343434"/>
                </a:solidFill>
                <a:latin typeface="Poppins Bold"/>
                <a:ea typeface="Poppins Bold"/>
                <a:cs typeface="Poppins Bold"/>
                <a:sym typeface="Poppins Bold"/>
              </a:rPr>
              <a:t>A MEASURED TRADE-OFF</a:t>
            </a:r>
          </a:p>
        </p:txBody>
      </p:sp>
      <p:sp>
        <p:nvSpPr>
          <p:cNvPr name="TextBox 10" id="10"/>
          <p:cNvSpPr txBox="true"/>
          <p:nvPr/>
        </p:nvSpPr>
        <p:spPr>
          <a:xfrm rot="0">
            <a:off x="894131" y="5535665"/>
            <a:ext cx="10063518" cy="1232848"/>
          </a:xfrm>
          <a:prstGeom prst="rect">
            <a:avLst/>
          </a:prstGeom>
        </p:spPr>
        <p:txBody>
          <a:bodyPr anchor="t" rtlCol="false" tIns="0" lIns="0" bIns="0" rIns="0">
            <a:spAutoFit/>
          </a:bodyPr>
          <a:lstStyle/>
          <a:p>
            <a:pPr algn="l" marL="0" indent="0" lvl="0">
              <a:lnSpc>
                <a:spcPts val="8103"/>
              </a:lnSpc>
            </a:pPr>
            <a:r>
              <a:rPr lang="en-US" b="true" sz="9762" spc="-488">
                <a:solidFill>
                  <a:srgbClr val="38B6FF"/>
                </a:solidFill>
                <a:latin typeface="Poppins Bold"/>
                <a:ea typeface="Poppins Bold"/>
                <a:cs typeface="Poppins Bold"/>
                <a:sym typeface="Poppins Bold"/>
              </a:rPr>
              <a:t>RANDOM FOREST</a:t>
            </a:r>
          </a:p>
        </p:txBody>
      </p:sp>
      <p:sp>
        <p:nvSpPr>
          <p:cNvPr name="TextBox 11" id="11"/>
          <p:cNvSpPr txBox="true"/>
          <p:nvPr/>
        </p:nvSpPr>
        <p:spPr>
          <a:xfrm rot="0">
            <a:off x="789467" y="7159038"/>
            <a:ext cx="9232529" cy="2085086"/>
          </a:xfrm>
          <a:prstGeom prst="rect">
            <a:avLst/>
          </a:prstGeom>
        </p:spPr>
        <p:txBody>
          <a:bodyPr anchor="t" rtlCol="false" tIns="0" lIns="0" bIns="0" rIns="0">
            <a:spAutoFit/>
          </a:bodyPr>
          <a:lstStyle/>
          <a:p>
            <a:pPr algn="l" marL="0" indent="0" lvl="0">
              <a:lnSpc>
                <a:spcPts val="2391"/>
              </a:lnSpc>
              <a:spcBef>
                <a:spcPct val="0"/>
              </a:spcBef>
            </a:pPr>
            <a:r>
              <a:rPr lang="en-US" sz="2299" spc="-22" strike="noStrike" u="none">
                <a:solidFill>
                  <a:srgbClr val="1F191A"/>
                </a:solidFill>
                <a:latin typeface="Poppins Light"/>
                <a:ea typeface="Poppins Light"/>
                <a:cs typeface="Poppins Light"/>
                <a:sym typeface="Poppins Light"/>
              </a:rPr>
              <a:t>Threshold: 0.52  |  Random Forest</a:t>
            </a:r>
          </a:p>
          <a:p>
            <a:pPr algn="l" marL="0" indent="0" lvl="0">
              <a:lnSpc>
                <a:spcPts val="2391"/>
              </a:lnSpc>
              <a:spcBef>
                <a:spcPct val="0"/>
              </a:spcBef>
            </a:pPr>
            <a:r>
              <a:rPr lang="en-US" sz="2299" spc="-22" strike="noStrike" u="none">
                <a:solidFill>
                  <a:srgbClr val="1F191A"/>
                </a:solidFill>
                <a:latin typeface="Poppins Light"/>
                <a:ea typeface="Poppins Light"/>
                <a:cs typeface="Poppins Light"/>
                <a:sym typeface="Poppins Light"/>
              </a:rPr>
              <a:t>Accuracy: 83.15%     Precision: 79.23%</a:t>
            </a:r>
          </a:p>
          <a:p>
            <a:pPr algn="l" marL="0" indent="0" lvl="0">
              <a:lnSpc>
                <a:spcPts val="2391"/>
              </a:lnSpc>
              <a:spcBef>
                <a:spcPct val="0"/>
              </a:spcBef>
            </a:pPr>
            <a:r>
              <a:rPr lang="en-US" sz="2299" spc="-22" strike="noStrike" u="none">
                <a:solidFill>
                  <a:srgbClr val="1F191A"/>
                </a:solidFill>
                <a:latin typeface="Poppins Light"/>
                <a:ea typeface="Poppins Light"/>
                <a:cs typeface="Poppins Light"/>
                <a:sym typeface="Poppins Light"/>
              </a:rPr>
              <a:t>Recall: 33.98%          F1: 47.56%</a:t>
            </a:r>
          </a:p>
          <a:p>
            <a:pPr algn="l" marL="0" indent="0" lvl="0">
              <a:lnSpc>
                <a:spcPts val="2391"/>
              </a:lnSpc>
              <a:spcBef>
                <a:spcPct val="0"/>
              </a:spcBef>
            </a:pPr>
            <a:r>
              <a:rPr lang="en-US" sz="2299" spc="-22" strike="noStrike" u="none">
                <a:solidFill>
                  <a:srgbClr val="1F191A"/>
                </a:solidFill>
                <a:latin typeface="Poppins Light"/>
                <a:ea typeface="Poppins Light"/>
                <a:cs typeface="Poppins Light"/>
                <a:sym typeface="Poppins Light"/>
              </a:rPr>
              <a:t>False-Positive Rate: 2.59%</a:t>
            </a:r>
          </a:p>
          <a:p>
            <a:pPr algn="l" marL="0" indent="0" lvl="0">
              <a:lnSpc>
                <a:spcPts val="2391"/>
              </a:lnSpc>
              <a:spcBef>
                <a:spcPct val="0"/>
              </a:spcBef>
            </a:pPr>
            <a:r>
              <a:rPr lang="en-US" sz="2299" spc="-22" strike="noStrike" u="none">
                <a:solidFill>
                  <a:srgbClr val="1F191A"/>
                </a:solidFill>
                <a:latin typeface="Poppins Light"/>
                <a:ea typeface="Poppins Light"/>
                <a:cs typeface="Poppins Light"/>
                <a:sym typeface="Poppins Light"/>
              </a:rPr>
              <a:t>Low false positives were prioritised to reduce unnecessary browsing interruptions, but phishing recall remains limited. Contextual checks therefore support the URL model in real use.</a:t>
            </a:r>
          </a:p>
        </p:txBody>
      </p:sp>
      <p:sp>
        <p:nvSpPr>
          <p:cNvPr name="TextBox 12" id="12"/>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grpSp>
        <p:nvGrpSpPr>
          <p:cNvPr name="Group 13" id="13"/>
          <p:cNvGrpSpPr/>
          <p:nvPr/>
        </p:nvGrpSpPr>
        <p:grpSpPr>
          <a:xfrm rot="0">
            <a:off x="12968711" y="161481"/>
            <a:ext cx="2391678" cy="510325"/>
            <a:chOff x="0" y="0"/>
            <a:chExt cx="629907" cy="134407"/>
          </a:xfrm>
        </p:grpSpPr>
        <p:sp>
          <p:nvSpPr>
            <p:cNvPr name="Freeform 14" id="14"/>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5" id="15"/>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6" id="16"/>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391678" cy="510325"/>
            <a:chOff x="0" y="0"/>
            <a:chExt cx="629907" cy="134407"/>
          </a:xfrm>
        </p:grpSpPr>
        <p:sp>
          <p:nvSpPr>
            <p:cNvPr name="Freeform 3" id="3"/>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4" id="4"/>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Freeform 5" id="5"/>
          <p:cNvSpPr/>
          <p:nvPr/>
        </p:nvSpPr>
        <p:spPr>
          <a:xfrm flipH="false" flipV="false" rot="0">
            <a:off x="17057458" y="8811768"/>
            <a:ext cx="1745231" cy="955117"/>
          </a:xfrm>
          <a:custGeom>
            <a:avLst/>
            <a:gdLst/>
            <a:ahLst/>
            <a:cxnLst/>
            <a:rect r="r" b="b" t="t" l="l"/>
            <a:pathLst>
              <a:path h="955117" w="1745231">
                <a:moveTo>
                  <a:pt x="0" y="0"/>
                </a:moveTo>
                <a:lnTo>
                  <a:pt x="1745230" y="0"/>
                </a:lnTo>
                <a:lnTo>
                  <a:pt x="1745230"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016543" y="551141"/>
            <a:ext cx="1745231" cy="955117"/>
          </a:xfrm>
          <a:custGeom>
            <a:avLst/>
            <a:gdLst/>
            <a:ahLst/>
            <a:cxnLst/>
            <a:rect r="r" b="b" t="t" l="l"/>
            <a:pathLst>
              <a:path h="955117" w="1745231">
                <a:moveTo>
                  <a:pt x="0" y="0"/>
                </a:moveTo>
                <a:lnTo>
                  <a:pt x="1745231" y="0"/>
                </a:lnTo>
                <a:lnTo>
                  <a:pt x="1745231" y="955118"/>
                </a:lnTo>
                <a:lnTo>
                  <a:pt x="0" y="9551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183256" y="5376291"/>
            <a:ext cx="1745231" cy="955117"/>
          </a:xfrm>
          <a:custGeom>
            <a:avLst/>
            <a:gdLst/>
            <a:ahLst/>
            <a:cxnLst/>
            <a:rect r="r" b="b" t="t" l="l"/>
            <a:pathLst>
              <a:path h="955117" w="1745231">
                <a:moveTo>
                  <a:pt x="0" y="0"/>
                </a:moveTo>
                <a:lnTo>
                  <a:pt x="1745231" y="0"/>
                </a:lnTo>
                <a:lnTo>
                  <a:pt x="1745231" y="955118"/>
                </a:lnTo>
                <a:lnTo>
                  <a:pt x="0" y="9551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4"/>
            <a:stretch>
              <a:fillRect l="0" t="0" r="0" b="0"/>
            </a:stretch>
          </a:blipFill>
        </p:spPr>
      </p:sp>
      <p:sp>
        <p:nvSpPr>
          <p:cNvPr name="Freeform 9" id="9"/>
          <p:cNvSpPr/>
          <p:nvPr/>
        </p:nvSpPr>
        <p:spPr>
          <a:xfrm flipH="false" flipV="false" rot="0">
            <a:off x="1450683" y="2396995"/>
            <a:ext cx="7018326" cy="7018326"/>
          </a:xfrm>
          <a:custGeom>
            <a:avLst/>
            <a:gdLst/>
            <a:ahLst/>
            <a:cxnLst/>
            <a:rect r="r" b="b" t="t" l="l"/>
            <a:pathLst>
              <a:path h="7018326" w="7018326">
                <a:moveTo>
                  <a:pt x="0" y="0"/>
                </a:moveTo>
                <a:lnTo>
                  <a:pt x="7018326" y="0"/>
                </a:lnTo>
                <a:lnTo>
                  <a:pt x="7018326" y="7018326"/>
                </a:lnTo>
                <a:lnTo>
                  <a:pt x="0" y="7018326"/>
                </a:lnTo>
                <a:lnTo>
                  <a:pt x="0" y="0"/>
                </a:lnTo>
                <a:close/>
              </a:path>
            </a:pathLst>
          </a:custGeom>
          <a:blipFill>
            <a:blip r:embed="rId5"/>
            <a:stretch>
              <a:fillRect l="0" t="0" r="0" b="0"/>
            </a:stretch>
          </a:blipFill>
        </p:spPr>
      </p:sp>
      <p:sp>
        <p:nvSpPr>
          <p:cNvPr name="TextBox 10" id="10"/>
          <p:cNvSpPr txBox="true"/>
          <p:nvPr/>
        </p:nvSpPr>
        <p:spPr>
          <a:xfrm rot="0">
            <a:off x="9357717" y="6340934"/>
            <a:ext cx="7523756" cy="1193048"/>
          </a:xfrm>
          <a:prstGeom prst="rect">
            <a:avLst/>
          </a:prstGeom>
        </p:spPr>
        <p:txBody>
          <a:bodyPr anchor="t" rtlCol="false" tIns="0" lIns="0" bIns="0" rIns="0">
            <a:spAutoFit/>
          </a:bodyPr>
          <a:lstStyle/>
          <a:p>
            <a:pPr algn="l" marL="0" indent="0" lvl="0">
              <a:lnSpc>
                <a:spcPts val="1872"/>
              </a:lnSpc>
            </a:pPr>
            <a:r>
              <a:rPr lang="en-US" sz="1800">
                <a:solidFill>
                  <a:srgbClr val="FCFCFC"/>
                </a:solidFill>
                <a:latin typeface="Poppins Light"/>
                <a:ea typeface="Poppins Light"/>
                <a:cs typeface="Poppins Light"/>
                <a:sym typeface="Poppins Light"/>
              </a:rPr>
              <a:t>Model: Calibrated LinearSVC | Held-Out Test Set</a:t>
            </a:r>
          </a:p>
          <a:p>
            <a:pPr algn="l" marL="0" indent="0" lvl="0">
              <a:lnSpc>
                <a:spcPts val="1872"/>
              </a:lnSpc>
            </a:pPr>
            <a:r>
              <a:rPr lang="en-US" sz="1800">
                <a:solidFill>
                  <a:srgbClr val="FCFCFC"/>
                </a:solidFill>
                <a:latin typeface="Poppins Light"/>
                <a:ea typeface="Poppins Light"/>
                <a:cs typeface="Poppins Light"/>
                <a:sym typeface="Poppins Light"/>
              </a:rPr>
              <a:t>Accuracy: 97.18%   •   Precision: 98.94%</a:t>
            </a:r>
          </a:p>
          <a:p>
            <a:pPr algn="l" marL="0" indent="0" lvl="0">
              <a:lnSpc>
                <a:spcPts val="1872"/>
              </a:lnSpc>
            </a:pPr>
            <a:r>
              <a:rPr lang="en-US" sz="1800">
                <a:solidFill>
                  <a:srgbClr val="FCFCFC"/>
                </a:solidFill>
                <a:latin typeface="Poppins Light"/>
                <a:ea typeface="Poppins Light"/>
                <a:cs typeface="Poppins Light"/>
                <a:sym typeface="Poppins Light"/>
              </a:rPr>
              <a:t>Recall: 93.27%   •   F1 Score: 96.02%</a:t>
            </a:r>
          </a:p>
          <a:p>
            <a:pPr algn="l" marL="0" indent="0" lvl="0">
              <a:lnSpc>
                <a:spcPts val="1872"/>
              </a:lnSpc>
            </a:pPr>
            <a:r>
              <a:rPr lang="en-US" sz="1800">
                <a:solidFill>
                  <a:srgbClr val="FCFCFC"/>
                </a:solidFill>
                <a:latin typeface="Poppins Light"/>
                <a:ea typeface="Poppins Light"/>
                <a:cs typeface="Poppins Light"/>
                <a:sym typeface="Poppins Light"/>
              </a:rPr>
              <a:t>Leakage-safe held-out evaluation — training and test sets are strictly separated to ensure valid generalisation results.</a:t>
            </a:r>
          </a:p>
        </p:txBody>
      </p:sp>
      <p:sp>
        <p:nvSpPr>
          <p:cNvPr name="TextBox 11" id="11"/>
          <p:cNvSpPr txBox="true"/>
          <p:nvPr/>
        </p:nvSpPr>
        <p:spPr>
          <a:xfrm rot="0">
            <a:off x="9357717" y="8365236"/>
            <a:ext cx="5629479" cy="756476"/>
          </a:xfrm>
          <a:prstGeom prst="rect">
            <a:avLst/>
          </a:prstGeom>
        </p:spPr>
        <p:txBody>
          <a:bodyPr anchor="t" rtlCol="false" tIns="0" lIns="0" bIns="0" rIns="0">
            <a:spAutoFit/>
          </a:bodyPr>
          <a:lstStyle/>
          <a:p>
            <a:pPr algn="l" marL="0" indent="0" lvl="0">
              <a:lnSpc>
                <a:spcPts val="1453"/>
              </a:lnSpc>
            </a:pPr>
            <a:r>
              <a:rPr lang="en-US" sz="1425">
                <a:solidFill>
                  <a:srgbClr val="FCFCFC"/>
                </a:solidFill>
                <a:latin typeface="Poppins Light"/>
                <a:ea typeface="Poppins Light"/>
                <a:cs typeface="Poppins Light"/>
                <a:sym typeface="Poppins Light"/>
              </a:rPr>
              <a:t>Note: These scores reflect performance on the held-out email dataset only. They are not guarantees of runtime performance on all future emails. Real-world results may vary with unseen phishing patterns and evolving sender tactics.</a:t>
            </a:r>
          </a:p>
        </p:txBody>
      </p:sp>
      <p:sp>
        <p:nvSpPr>
          <p:cNvPr name="TextBox 12" id="12"/>
          <p:cNvSpPr txBox="true"/>
          <p:nvPr/>
        </p:nvSpPr>
        <p:spPr>
          <a:xfrm rot="0">
            <a:off x="9357717" y="2914254"/>
            <a:ext cx="7901583" cy="1629088"/>
          </a:xfrm>
          <a:prstGeom prst="rect">
            <a:avLst/>
          </a:prstGeom>
        </p:spPr>
        <p:txBody>
          <a:bodyPr anchor="t" rtlCol="false" tIns="0" lIns="0" bIns="0" rIns="0">
            <a:spAutoFit/>
          </a:bodyPr>
          <a:lstStyle/>
          <a:p>
            <a:pPr algn="l" marL="0" indent="0" lvl="0">
              <a:lnSpc>
                <a:spcPts val="6036"/>
              </a:lnSpc>
            </a:pPr>
            <a:r>
              <a:rPr lang="en-US" b="true" sz="6490" spc="-64">
                <a:solidFill>
                  <a:srgbClr val="FCFCFC"/>
                </a:solidFill>
                <a:latin typeface="Poppins Bold"/>
                <a:ea typeface="Poppins Bold"/>
                <a:cs typeface="Poppins Bold"/>
                <a:sym typeface="Poppins Bold"/>
              </a:rPr>
              <a:t>EMAIL MODEL EVALUATION</a:t>
            </a:r>
          </a:p>
        </p:txBody>
      </p:sp>
      <p:sp>
        <p:nvSpPr>
          <p:cNvPr name="TextBox 13" id="13"/>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grpSp>
        <p:nvGrpSpPr>
          <p:cNvPr name="Group 14" id="14"/>
          <p:cNvGrpSpPr/>
          <p:nvPr/>
        </p:nvGrpSpPr>
        <p:grpSpPr>
          <a:xfrm rot="0">
            <a:off x="12968711" y="161481"/>
            <a:ext cx="2391678" cy="510325"/>
            <a:chOff x="0" y="0"/>
            <a:chExt cx="629907" cy="134407"/>
          </a:xfrm>
        </p:grpSpPr>
        <p:sp>
          <p:nvSpPr>
            <p:cNvPr name="Freeform 15" id="15"/>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6" id="16"/>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7" id="17"/>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sp>
        <p:nvSpPr>
          <p:cNvPr name="Freeform 2" id="2"/>
          <p:cNvSpPr/>
          <p:nvPr/>
        </p:nvSpPr>
        <p:spPr>
          <a:xfrm flipH="false" flipV="false" rot="0">
            <a:off x="17566772" y="606496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56034" y="58390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4"/>
            <a:stretch>
              <a:fillRect l="0" t="0" r="0" b="0"/>
            </a:stretch>
          </a:blipFill>
        </p:spPr>
      </p:sp>
      <p:sp>
        <p:nvSpPr>
          <p:cNvPr name="Freeform 6" id="6"/>
          <p:cNvSpPr/>
          <p:nvPr/>
        </p:nvSpPr>
        <p:spPr>
          <a:xfrm flipH="false" flipV="false" rot="0">
            <a:off x="1028700" y="2239974"/>
            <a:ext cx="7018326" cy="7018326"/>
          </a:xfrm>
          <a:custGeom>
            <a:avLst/>
            <a:gdLst/>
            <a:ahLst/>
            <a:cxnLst/>
            <a:rect r="r" b="b" t="t" l="l"/>
            <a:pathLst>
              <a:path h="7018326" w="7018326">
                <a:moveTo>
                  <a:pt x="0" y="0"/>
                </a:moveTo>
                <a:lnTo>
                  <a:pt x="7018326" y="0"/>
                </a:lnTo>
                <a:lnTo>
                  <a:pt x="7018326" y="7018326"/>
                </a:lnTo>
                <a:lnTo>
                  <a:pt x="0" y="7018326"/>
                </a:lnTo>
                <a:lnTo>
                  <a:pt x="0" y="0"/>
                </a:lnTo>
                <a:close/>
              </a:path>
            </a:pathLst>
          </a:custGeom>
          <a:blipFill>
            <a:blip r:embed="rId5"/>
            <a:stretch>
              <a:fillRect l="0" t="0" r="0" b="0"/>
            </a:stretch>
          </a:blipFill>
        </p:spPr>
      </p:sp>
      <p:sp>
        <p:nvSpPr>
          <p:cNvPr name="TextBox 7" id="7"/>
          <p:cNvSpPr txBox="true"/>
          <p:nvPr/>
        </p:nvSpPr>
        <p:spPr>
          <a:xfrm rot="0">
            <a:off x="8572828" y="4004479"/>
            <a:ext cx="7662695" cy="1418558"/>
          </a:xfrm>
          <a:prstGeom prst="rect">
            <a:avLst/>
          </a:prstGeom>
        </p:spPr>
        <p:txBody>
          <a:bodyPr anchor="t" rtlCol="false" tIns="0" lIns="0" bIns="0" rIns="0">
            <a:spAutoFit/>
          </a:bodyPr>
          <a:lstStyle/>
          <a:p>
            <a:pPr algn="l" marL="0" indent="0" lvl="0">
              <a:lnSpc>
                <a:spcPts val="2240"/>
              </a:lnSpc>
              <a:spcBef>
                <a:spcPct val="0"/>
              </a:spcBef>
            </a:pPr>
            <a:r>
              <a:rPr lang="en-US" sz="2174" spc="-21" strike="noStrike" u="none">
                <a:solidFill>
                  <a:srgbClr val="1F191A"/>
                </a:solidFill>
                <a:latin typeface="Poppins Light"/>
                <a:ea typeface="Poppins Light"/>
                <a:cs typeface="Poppins Light"/>
                <a:sym typeface="Poppins Light"/>
              </a:rPr>
              <a:t>Regression tests were added in response to real development failures, not just ideal test cases. Validation covered URL edge cases, Gmail navigation, authentication, vault encryption, reporting, and ownership controls.</a:t>
            </a:r>
          </a:p>
        </p:txBody>
      </p:sp>
      <p:sp>
        <p:nvSpPr>
          <p:cNvPr name="TextBox 8" id="8"/>
          <p:cNvSpPr txBox="true"/>
          <p:nvPr/>
        </p:nvSpPr>
        <p:spPr>
          <a:xfrm rot="0">
            <a:off x="8273787" y="6266711"/>
            <a:ext cx="4548544" cy="3502025"/>
          </a:xfrm>
          <a:prstGeom prst="rect">
            <a:avLst/>
          </a:prstGeom>
        </p:spPr>
        <p:txBody>
          <a:bodyPr anchor="t" rtlCol="false" tIns="0" lIns="0" bIns="0" rIns="0">
            <a:spAutoFit/>
          </a:bodyPr>
          <a:lstStyle/>
          <a:p>
            <a:pPr algn="l" marL="0" indent="0" lvl="0">
              <a:lnSpc>
                <a:spcPts val="2124"/>
              </a:lnSpc>
            </a:pPr>
            <a:r>
              <a:rPr lang="en-US" b="true" sz="2124">
                <a:solidFill>
                  <a:srgbClr val="1F191A"/>
                </a:solidFill>
                <a:latin typeface="Poppins Bold"/>
                <a:ea typeface="Poppins Bold"/>
                <a:cs typeface="Poppins Bold"/>
                <a:sym typeface="Poppins Bold"/>
              </a:rPr>
              <a:t>URL &amp; Gmail Regressions</a:t>
            </a:r>
          </a:p>
          <a:p>
            <a:pPr algn="l" marL="0" indent="0" lvl="0">
              <a:lnSpc>
                <a:spcPts val="2124"/>
              </a:lnSpc>
            </a:pPr>
            <a:r>
              <a:rPr lang="en-US" sz="2124">
                <a:solidFill>
                  <a:srgbClr val="1F191A"/>
                </a:solidFill>
                <a:latin typeface="Poppins Light"/>
                <a:ea typeface="Poppins Light"/>
                <a:cs typeface="Poppins Light"/>
                <a:sym typeface="Poppins Light"/>
              </a:rPr>
              <a:t>Long legitimate URL false-positive regressions; Gmail navigation and stale-response handling; message dismissal scope isolation; duplicate scan prevention.</a:t>
            </a:r>
          </a:p>
          <a:p>
            <a:pPr algn="l" marL="0" indent="0" lvl="0">
              <a:lnSpc>
                <a:spcPts val="2124"/>
              </a:lnSpc>
            </a:pPr>
            <a:r>
              <a:rPr lang="en-US" b="true" sz="2124">
                <a:solidFill>
                  <a:srgbClr val="1F191A"/>
                </a:solidFill>
                <a:latin typeface="Poppins Bold"/>
                <a:ea typeface="Poppins Bold"/>
                <a:cs typeface="Poppins Bold"/>
                <a:sym typeface="Poppins Bold"/>
              </a:rPr>
              <a:t>MFA, Session &amp; Ownership</a:t>
            </a:r>
          </a:p>
          <a:p>
            <a:pPr algn="l" marL="0" indent="0" lvl="0">
              <a:lnSpc>
                <a:spcPts val="2124"/>
              </a:lnSpc>
            </a:pPr>
            <a:r>
              <a:rPr lang="en-US" sz="2124">
                <a:solidFill>
                  <a:srgbClr val="1F191A"/>
                </a:solidFill>
                <a:latin typeface="Poppins Light"/>
                <a:ea typeface="Poppins Light"/>
                <a:cs typeface="Poppins Light"/>
                <a:sym typeface="Poppins Light"/>
              </a:rPr>
              <a:t>Mandatory MFA enforcement; session expiry and re-authentication; resource ownership checks preventing cross-user access.</a:t>
            </a:r>
          </a:p>
        </p:txBody>
      </p:sp>
      <p:sp>
        <p:nvSpPr>
          <p:cNvPr name="TextBox 9" id="9"/>
          <p:cNvSpPr txBox="true"/>
          <p:nvPr/>
        </p:nvSpPr>
        <p:spPr>
          <a:xfrm rot="0">
            <a:off x="13142677" y="6266711"/>
            <a:ext cx="3528168" cy="3235325"/>
          </a:xfrm>
          <a:prstGeom prst="rect">
            <a:avLst/>
          </a:prstGeom>
        </p:spPr>
        <p:txBody>
          <a:bodyPr anchor="t" rtlCol="false" tIns="0" lIns="0" bIns="0" rIns="0">
            <a:spAutoFit/>
          </a:bodyPr>
          <a:lstStyle/>
          <a:p>
            <a:pPr algn="l" marL="0" indent="0" lvl="0">
              <a:lnSpc>
                <a:spcPts val="2124"/>
              </a:lnSpc>
            </a:pPr>
            <a:r>
              <a:rPr lang="en-US" b="true" sz="2124">
                <a:solidFill>
                  <a:srgbClr val="1F191A"/>
                </a:solidFill>
                <a:latin typeface="Poppins Bold"/>
                <a:ea typeface="Poppins Bold"/>
                <a:cs typeface="Poppins Bold"/>
                <a:sym typeface="Poppins Bold"/>
              </a:rPr>
              <a:t>Vault &amp; PDF Controls</a:t>
            </a:r>
          </a:p>
          <a:p>
            <a:pPr algn="l" marL="0" indent="0" lvl="0">
              <a:lnSpc>
                <a:spcPts val="2124"/>
              </a:lnSpc>
            </a:pPr>
            <a:r>
              <a:rPr lang="en-US" sz="2124">
                <a:solidFill>
                  <a:srgbClr val="1F191A"/>
                </a:solidFill>
                <a:latin typeface="Poppins Light"/>
                <a:ea typeface="Poppins Light"/>
                <a:cs typeface="Poppins Light"/>
                <a:sym typeface="Poppins Light"/>
              </a:rPr>
              <a:t>Client-side encryption boundaries; safe autofill scope; PDF report ownership gating; secret field exclusion from exports.</a:t>
            </a:r>
          </a:p>
          <a:p>
            <a:pPr algn="l" marL="0" indent="0" lvl="0">
              <a:lnSpc>
                <a:spcPts val="2124"/>
              </a:lnSpc>
            </a:pPr>
            <a:r>
              <a:rPr lang="en-US" b="true" sz="2124">
                <a:solidFill>
                  <a:srgbClr val="1F191A"/>
                </a:solidFill>
                <a:latin typeface="Poppins Bold"/>
                <a:ea typeface="Poppins Bold"/>
                <a:cs typeface="Poppins Bold"/>
                <a:sym typeface="Poppins Bold"/>
              </a:rPr>
              <a:t>Email Release Gate</a:t>
            </a:r>
          </a:p>
          <a:p>
            <a:pPr algn="l" marL="0" indent="0" lvl="0">
              <a:lnSpc>
                <a:spcPts val="2124"/>
              </a:lnSpc>
            </a:pPr>
            <a:r>
              <a:rPr lang="en-US" sz="2124">
                <a:solidFill>
                  <a:srgbClr val="1F191A"/>
                </a:solidFill>
                <a:latin typeface="Poppins Light"/>
                <a:ea typeface="Poppins Light"/>
                <a:cs typeface="Poppins Light"/>
                <a:sym typeface="Poppins Light"/>
              </a:rPr>
              <a:t>37 / 37 documented cases passed before Gmail protection was released to testers.</a:t>
            </a:r>
          </a:p>
        </p:txBody>
      </p:sp>
      <p:sp>
        <p:nvSpPr>
          <p:cNvPr name="TextBox 10" id="10"/>
          <p:cNvSpPr txBox="true"/>
          <p:nvPr/>
        </p:nvSpPr>
        <p:spPr>
          <a:xfrm rot="0">
            <a:off x="8498068" y="1343523"/>
            <a:ext cx="8462191" cy="2409348"/>
          </a:xfrm>
          <a:prstGeom prst="rect">
            <a:avLst/>
          </a:prstGeom>
        </p:spPr>
        <p:txBody>
          <a:bodyPr anchor="t" rtlCol="false" tIns="0" lIns="0" bIns="0" rIns="0">
            <a:spAutoFit/>
          </a:bodyPr>
          <a:lstStyle/>
          <a:p>
            <a:pPr algn="l" marL="0" indent="0" lvl="0">
              <a:lnSpc>
                <a:spcPts val="6117"/>
              </a:lnSpc>
            </a:pPr>
            <a:r>
              <a:rPr lang="en-US" b="true" sz="6577" spc="-65">
                <a:solidFill>
                  <a:srgbClr val="343434"/>
                </a:solidFill>
                <a:latin typeface="Poppins Bold"/>
                <a:ea typeface="Poppins Bold"/>
                <a:cs typeface="Poppins Bold"/>
                <a:sym typeface="Poppins Bold"/>
              </a:rPr>
              <a:t>REGRESSION &amp; SECURITY VALIDATION</a:t>
            </a:r>
          </a:p>
        </p:txBody>
      </p:sp>
      <p:grpSp>
        <p:nvGrpSpPr>
          <p:cNvPr name="Group 11" id="11"/>
          <p:cNvGrpSpPr/>
          <p:nvPr/>
        </p:nvGrpSpPr>
        <p:grpSpPr>
          <a:xfrm rot="0">
            <a:off x="12968711" y="161481"/>
            <a:ext cx="2391678" cy="510325"/>
            <a:chOff x="0" y="0"/>
            <a:chExt cx="629907" cy="134407"/>
          </a:xfrm>
        </p:grpSpPr>
        <p:sp>
          <p:nvSpPr>
            <p:cNvPr name="Freeform 12" id="12"/>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3" id="13"/>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4" id="14"/>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grpSp>
        <p:nvGrpSpPr>
          <p:cNvPr name="Group 15" id="15"/>
          <p:cNvGrpSpPr/>
          <p:nvPr/>
        </p:nvGrpSpPr>
        <p:grpSpPr>
          <a:xfrm rot="0">
            <a:off x="1038225" y="1028700"/>
            <a:ext cx="2391678" cy="510325"/>
            <a:chOff x="0" y="0"/>
            <a:chExt cx="629907" cy="134407"/>
          </a:xfrm>
        </p:grpSpPr>
        <p:sp>
          <p:nvSpPr>
            <p:cNvPr name="Freeform 16" id="16"/>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7" id="17"/>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8" id="18"/>
          <p:cNvSpPr txBox="true"/>
          <p:nvPr/>
        </p:nvSpPr>
        <p:spPr>
          <a:xfrm rot="0">
            <a:off x="1353903"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421569" y="4168617"/>
            <a:ext cx="6383692" cy="1340432"/>
          </a:xfrm>
          <a:prstGeom prst="rect">
            <a:avLst/>
          </a:prstGeom>
        </p:spPr>
        <p:txBody>
          <a:bodyPr anchor="t" rtlCol="false" tIns="0" lIns="0" bIns="0" rIns="0">
            <a:spAutoFit/>
          </a:bodyPr>
          <a:lstStyle/>
          <a:p>
            <a:pPr algn="l" marL="0" indent="0" lvl="0">
              <a:lnSpc>
                <a:spcPts val="2699"/>
              </a:lnSpc>
            </a:pPr>
            <a:r>
              <a:rPr lang="en-US" b="true" sz="2045">
                <a:solidFill>
                  <a:srgbClr val="1F191A"/>
                </a:solidFill>
                <a:latin typeface="Poppins Bold"/>
                <a:ea typeface="Poppins Bold"/>
                <a:cs typeface="Poppins Bold"/>
                <a:sym typeface="Poppins Bold"/>
              </a:rPr>
              <a:t>48/48 Tasks Passed  •  Mean Rating 4.86/5  •  3/3 Accepted</a:t>
            </a:r>
          </a:p>
          <a:p>
            <a:pPr algn="l" marL="0" indent="0" lvl="0">
              <a:lnSpc>
                <a:spcPts val="2699"/>
              </a:lnSpc>
            </a:pPr>
            <a:r>
              <a:rPr lang="en-US" b="true" sz="2045">
                <a:solidFill>
                  <a:srgbClr val="1F191A"/>
                </a:solidFill>
                <a:latin typeface="Poppins Bold"/>
                <a:ea typeface="Poppins Bold"/>
                <a:cs typeface="Poppins Bold"/>
                <a:sym typeface="Poppins Bold"/>
              </a:rPr>
              <a:t>3 Participants × 16 Practical Tasks  |  12 Usability Statements Each</a:t>
            </a:r>
          </a:p>
        </p:txBody>
      </p:sp>
      <p:sp>
        <p:nvSpPr>
          <p:cNvPr name="Freeform 4" id="4"/>
          <p:cNvSpPr/>
          <p:nvPr/>
        </p:nvSpPr>
        <p:spPr>
          <a:xfrm flipH="false" flipV="false" rot="0">
            <a:off x="17566772" y="606496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678966" y="21025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sp>
        <p:nvSpPr>
          <p:cNvPr name="TextBox 8" id="8"/>
          <p:cNvSpPr txBox="true"/>
          <p:nvPr/>
        </p:nvSpPr>
        <p:spPr>
          <a:xfrm rot="0">
            <a:off x="10287000" y="6552044"/>
            <a:ext cx="7728264" cy="2398395"/>
          </a:xfrm>
          <a:prstGeom prst="rect">
            <a:avLst/>
          </a:prstGeom>
        </p:spPr>
        <p:txBody>
          <a:bodyPr anchor="t" rtlCol="false" tIns="0" lIns="0" bIns="0" rIns="0">
            <a:spAutoFit/>
          </a:bodyPr>
          <a:lstStyle/>
          <a:p>
            <a:pPr algn="l" marL="0" indent="0" lvl="0">
              <a:lnSpc>
                <a:spcPts val="2339"/>
              </a:lnSpc>
              <a:spcBef>
                <a:spcPct val="0"/>
              </a:spcBef>
            </a:pPr>
            <a:r>
              <a:rPr lang="en-US" sz="2249" spc="-22" strike="noStrike" u="none">
                <a:solidFill>
                  <a:srgbClr val="1F191A"/>
                </a:solidFill>
                <a:latin typeface="Poppins Light"/>
                <a:ea typeface="Poppins Light"/>
                <a:cs typeface="Poppins Light"/>
                <a:sym typeface="Poppins Light"/>
              </a:rPr>
              <a:t>Three participants completed 16 structured tasks covering website scans, Gmail protection, MFA, dashboard review, PDF reports, and vault operations. All 48 task executions passed. The mean usability rating was 4.86/5, and all three participants accepted the system. These results are encouraging for the prototype, but the sample is small and technically familiar, so broader UAT is still needed.</a:t>
            </a:r>
          </a:p>
        </p:txBody>
      </p:sp>
      <p:sp>
        <p:nvSpPr>
          <p:cNvPr name="TextBox 9" id="9"/>
          <p:cNvSpPr txBox="true"/>
          <p:nvPr/>
        </p:nvSpPr>
        <p:spPr>
          <a:xfrm rot="0">
            <a:off x="10421569" y="1388638"/>
            <a:ext cx="7319114" cy="2499803"/>
          </a:xfrm>
          <a:prstGeom prst="rect">
            <a:avLst/>
          </a:prstGeom>
        </p:spPr>
        <p:txBody>
          <a:bodyPr anchor="t" rtlCol="false" tIns="0" lIns="0" bIns="0" rIns="0">
            <a:spAutoFit/>
          </a:bodyPr>
          <a:lstStyle/>
          <a:p>
            <a:pPr algn="l" marL="0" indent="0" lvl="0">
              <a:lnSpc>
                <a:spcPts val="6236"/>
              </a:lnSpc>
            </a:pPr>
            <a:r>
              <a:rPr lang="en-US" b="true" sz="6705" spc="-67">
                <a:solidFill>
                  <a:srgbClr val="343434"/>
                </a:solidFill>
                <a:latin typeface="Poppins Bold"/>
                <a:ea typeface="Poppins Bold"/>
                <a:cs typeface="Poppins Bold"/>
                <a:sym typeface="Poppins Bold"/>
              </a:rPr>
              <a:t>USER ACCEPTANCE TESTING</a:t>
            </a:r>
          </a:p>
        </p:txBody>
      </p:sp>
      <p:grpSp>
        <p:nvGrpSpPr>
          <p:cNvPr name="Group 10" id="10"/>
          <p:cNvGrpSpPr/>
          <p:nvPr/>
        </p:nvGrpSpPr>
        <p:grpSpPr>
          <a:xfrm rot="0">
            <a:off x="12968711" y="161481"/>
            <a:ext cx="2391678" cy="510325"/>
            <a:chOff x="0" y="0"/>
            <a:chExt cx="629907" cy="134407"/>
          </a:xfrm>
        </p:grpSpPr>
        <p:sp>
          <p:nvSpPr>
            <p:cNvPr name="Freeform 11" id="11"/>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2" id="12"/>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3" id="13"/>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grpSp>
        <p:nvGrpSpPr>
          <p:cNvPr name="Group 14" id="14"/>
          <p:cNvGrpSpPr/>
          <p:nvPr/>
        </p:nvGrpSpPr>
        <p:grpSpPr>
          <a:xfrm rot="0">
            <a:off x="599624" y="888682"/>
            <a:ext cx="2391678" cy="510325"/>
            <a:chOff x="0" y="0"/>
            <a:chExt cx="629907" cy="134407"/>
          </a:xfrm>
        </p:grpSpPr>
        <p:sp>
          <p:nvSpPr>
            <p:cNvPr name="Freeform 15" id="15"/>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6" id="16"/>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7" id="17"/>
          <p:cNvSpPr txBox="true"/>
          <p:nvPr/>
        </p:nvSpPr>
        <p:spPr>
          <a:xfrm rot="0">
            <a:off x="915301" y="1047750"/>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grpSp>
        <p:nvGrpSpPr>
          <p:cNvPr name="Group 18" id="18"/>
          <p:cNvGrpSpPr/>
          <p:nvPr/>
        </p:nvGrpSpPr>
        <p:grpSpPr>
          <a:xfrm rot="0">
            <a:off x="1795462" y="321945"/>
            <a:ext cx="6836093" cy="2764155"/>
            <a:chOff x="0" y="0"/>
            <a:chExt cx="9114790" cy="3685540"/>
          </a:xfrm>
        </p:grpSpPr>
        <p:sp>
          <p:nvSpPr>
            <p:cNvPr name="Freeform 19" id="19"/>
            <p:cNvSpPr/>
            <p:nvPr/>
          </p:nvSpPr>
          <p:spPr>
            <a:xfrm flipH="false" flipV="false" rot="0">
              <a:off x="50800" y="50800"/>
              <a:ext cx="9046028" cy="3597005"/>
            </a:xfrm>
            <a:custGeom>
              <a:avLst/>
              <a:gdLst/>
              <a:ahLst/>
              <a:cxnLst/>
              <a:rect r="r" b="b" t="t" l="l"/>
              <a:pathLst>
                <a:path h="3597005" w="9046028">
                  <a:moveTo>
                    <a:pt x="0" y="2056130"/>
                  </a:moveTo>
                  <a:cubicBezTo>
                    <a:pt x="0" y="2054860"/>
                    <a:pt x="8890" y="2018030"/>
                    <a:pt x="12700" y="2000250"/>
                  </a:cubicBezTo>
                  <a:cubicBezTo>
                    <a:pt x="17780" y="1981200"/>
                    <a:pt x="26670" y="1944370"/>
                    <a:pt x="26670" y="1944370"/>
                  </a:cubicBezTo>
                  <a:cubicBezTo>
                    <a:pt x="26670" y="1943100"/>
                    <a:pt x="44450" y="1910080"/>
                    <a:pt x="53340" y="1893570"/>
                  </a:cubicBezTo>
                  <a:cubicBezTo>
                    <a:pt x="62230" y="1875790"/>
                    <a:pt x="80010" y="1842770"/>
                    <a:pt x="80010" y="1842770"/>
                  </a:cubicBezTo>
                  <a:cubicBezTo>
                    <a:pt x="80010" y="1841500"/>
                    <a:pt x="105410" y="1813560"/>
                    <a:pt x="118110" y="1799590"/>
                  </a:cubicBezTo>
                  <a:cubicBezTo>
                    <a:pt x="130810" y="1784350"/>
                    <a:pt x="154940" y="1756410"/>
                    <a:pt x="156210" y="1756410"/>
                  </a:cubicBezTo>
                  <a:cubicBezTo>
                    <a:pt x="156210" y="1755140"/>
                    <a:pt x="186690" y="1734820"/>
                    <a:pt x="203200" y="1723390"/>
                  </a:cubicBezTo>
                  <a:cubicBezTo>
                    <a:pt x="218440" y="1711960"/>
                    <a:pt x="248920" y="1691640"/>
                    <a:pt x="250190" y="1690370"/>
                  </a:cubicBezTo>
                  <a:cubicBezTo>
                    <a:pt x="250190" y="1690370"/>
                    <a:pt x="285750" y="1676400"/>
                    <a:pt x="303530" y="1670050"/>
                  </a:cubicBezTo>
                  <a:cubicBezTo>
                    <a:pt x="321310" y="1663700"/>
                    <a:pt x="356870" y="1649730"/>
                    <a:pt x="356870" y="1649730"/>
                  </a:cubicBezTo>
                  <a:cubicBezTo>
                    <a:pt x="358140" y="1649730"/>
                    <a:pt x="394970" y="1644650"/>
                    <a:pt x="414020" y="1642110"/>
                  </a:cubicBezTo>
                  <a:cubicBezTo>
                    <a:pt x="433070" y="1639570"/>
                    <a:pt x="447040" y="1638300"/>
                    <a:pt x="471170" y="1635760"/>
                  </a:cubicBezTo>
                  <a:cubicBezTo>
                    <a:pt x="511810" y="1630680"/>
                    <a:pt x="563880" y="1621790"/>
                    <a:pt x="633730" y="1617980"/>
                  </a:cubicBezTo>
                  <a:cubicBezTo>
                    <a:pt x="756920" y="1611630"/>
                    <a:pt x="999490" y="1615440"/>
                    <a:pt x="1150620" y="1615440"/>
                  </a:cubicBezTo>
                  <a:cubicBezTo>
                    <a:pt x="1268730" y="1615440"/>
                    <a:pt x="1347470" y="1626870"/>
                    <a:pt x="1464310" y="1615440"/>
                  </a:cubicBezTo>
                  <a:cubicBezTo>
                    <a:pt x="1614170" y="1601470"/>
                    <a:pt x="1805940" y="1546860"/>
                    <a:pt x="1973580" y="1516380"/>
                  </a:cubicBezTo>
                  <a:cubicBezTo>
                    <a:pt x="2134870" y="1485900"/>
                    <a:pt x="2289810" y="1457960"/>
                    <a:pt x="2451100" y="1431290"/>
                  </a:cubicBezTo>
                  <a:cubicBezTo>
                    <a:pt x="2616200" y="1405890"/>
                    <a:pt x="2830830" y="1375410"/>
                    <a:pt x="2950210" y="1361440"/>
                  </a:cubicBezTo>
                  <a:cubicBezTo>
                    <a:pt x="3017520" y="1353820"/>
                    <a:pt x="3094990" y="1375410"/>
                    <a:pt x="3107690" y="1347470"/>
                  </a:cubicBezTo>
                  <a:cubicBezTo>
                    <a:pt x="3126740" y="1299210"/>
                    <a:pt x="2830830" y="1068070"/>
                    <a:pt x="2828290" y="1005840"/>
                  </a:cubicBezTo>
                  <a:cubicBezTo>
                    <a:pt x="2828290" y="982980"/>
                    <a:pt x="2866390" y="966470"/>
                    <a:pt x="2863850" y="958850"/>
                  </a:cubicBezTo>
                  <a:cubicBezTo>
                    <a:pt x="2862580" y="955040"/>
                    <a:pt x="2847340" y="953770"/>
                    <a:pt x="2847340" y="952500"/>
                  </a:cubicBezTo>
                  <a:cubicBezTo>
                    <a:pt x="2846070" y="952500"/>
                    <a:pt x="2809240" y="948690"/>
                    <a:pt x="2790190" y="946150"/>
                  </a:cubicBezTo>
                  <a:cubicBezTo>
                    <a:pt x="2771140" y="943610"/>
                    <a:pt x="2734310" y="939800"/>
                    <a:pt x="2733040" y="939800"/>
                  </a:cubicBezTo>
                  <a:cubicBezTo>
                    <a:pt x="2733040" y="938530"/>
                    <a:pt x="2697480" y="925830"/>
                    <a:pt x="2679700" y="919480"/>
                  </a:cubicBezTo>
                  <a:cubicBezTo>
                    <a:pt x="2661920" y="911860"/>
                    <a:pt x="2626360" y="899160"/>
                    <a:pt x="2626360" y="899160"/>
                  </a:cubicBezTo>
                  <a:cubicBezTo>
                    <a:pt x="2626360" y="899160"/>
                    <a:pt x="2626360" y="899160"/>
                    <a:pt x="2626360" y="897890"/>
                  </a:cubicBezTo>
                  <a:cubicBezTo>
                    <a:pt x="2625090" y="897890"/>
                    <a:pt x="2594610" y="876300"/>
                    <a:pt x="2578100" y="866140"/>
                  </a:cubicBezTo>
                  <a:cubicBezTo>
                    <a:pt x="2562860" y="854710"/>
                    <a:pt x="2532380" y="834390"/>
                    <a:pt x="2531110" y="833120"/>
                  </a:cubicBezTo>
                  <a:cubicBezTo>
                    <a:pt x="2531110" y="833120"/>
                    <a:pt x="2505710" y="805180"/>
                    <a:pt x="2493010" y="789940"/>
                  </a:cubicBezTo>
                  <a:cubicBezTo>
                    <a:pt x="2480310" y="775970"/>
                    <a:pt x="2456180" y="748030"/>
                    <a:pt x="2454910" y="746760"/>
                  </a:cubicBezTo>
                  <a:cubicBezTo>
                    <a:pt x="2454910" y="746760"/>
                    <a:pt x="2437130" y="713740"/>
                    <a:pt x="2428240" y="695960"/>
                  </a:cubicBezTo>
                  <a:cubicBezTo>
                    <a:pt x="2419350" y="679450"/>
                    <a:pt x="2402840" y="646430"/>
                    <a:pt x="2401570" y="645160"/>
                  </a:cubicBezTo>
                  <a:cubicBezTo>
                    <a:pt x="2401570" y="645160"/>
                    <a:pt x="2392680" y="608330"/>
                    <a:pt x="2387600" y="590550"/>
                  </a:cubicBezTo>
                  <a:cubicBezTo>
                    <a:pt x="2383790" y="571500"/>
                    <a:pt x="2374900" y="534670"/>
                    <a:pt x="2374900" y="534670"/>
                  </a:cubicBezTo>
                  <a:cubicBezTo>
                    <a:pt x="2374900" y="533400"/>
                    <a:pt x="2374900" y="495300"/>
                    <a:pt x="2374900" y="476250"/>
                  </a:cubicBezTo>
                  <a:cubicBezTo>
                    <a:pt x="2374900" y="457200"/>
                    <a:pt x="2374900" y="420370"/>
                    <a:pt x="2374900" y="419100"/>
                  </a:cubicBezTo>
                  <a:cubicBezTo>
                    <a:pt x="2374900" y="419100"/>
                    <a:pt x="2383790" y="382270"/>
                    <a:pt x="2388870" y="363220"/>
                  </a:cubicBezTo>
                  <a:cubicBezTo>
                    <a:pt x="2392680" y="345440"/>
                    <a:pt x="2401570" y="308610"/>
                    <a:pt x="2401570" y="307340"/>
                  </a:cubicBezTo>
                  <a:cubicBezTo>
                    <a:pt x="2402840" y="307340"/>
                    <a:pt x="2419350" y="274320"/>
                    <a:pt x="2428240" y="256540"/>
                  </a:cubicBezTo>
                  <a:cubicBezTo>
                    <a:pt x="2437130" y="240030"/>
                    <a:pt x="2454910" y="207010"/>
                    <a:pt x="2454910" y="205740"/>
                  </a:cubicBezTo>
                  <a:cubicBezTo>
                    <a:pt x="2456180" y="205740"/>
                    <a:pt x="2480310" y="177800"/>
                    <a:pt x="2493010" y="163830"/>
                  </a:cubicBezTo>
                  <a:cubicBezTo>
                    <a:pt x="2505710" y="148590"/>
                    <a:pt x="2531110" y="120650"/>
                    <a:pt x="2531110" y="120650"/>
                  </a:cubicBezTo>
                  <a:cubicBezTo>
                    <a:pt x="2532380" y="119380"/>
                    <a:pt x="2562860" y="99060"/>
                    <a:pt x="2579370" y="87630"/>
                  </a:cubicBezTo>
                  <a:cubicBezTo>
                    <a:pt x="2594610" y="77470"/>
                    <a:pt x="2625090" y="55880"/>
                    <a:pt x="2626360" y="54610"/>
                  </a:cubicBezTo>
                  <a:cubicBezTo>
                    <a:pt x="2626360" y="54610"/>
                    <a:pt x="2661920" y="41910"/>
                    <a:pt x="2679700" y="34290"/>
                  </a:cubicBezTo>
                  <a:cubicBezTo>
                    <a:pt x="2697480" y="27940"/>
                    <a:pt x="2733040" y="15240"/>
                    <a:pt x="2733040" y="13970"/>
                  </a:cubicBezTo>
                  <a:cubicBezTo>
                    <a:pt x="2734310" y="13970"/>
                    <a:pt x="2771140" y="10160"/>
                    <a:pt x="2790190" y="7620"/>
                  </a:cubicBezTo>
                  <a:cubicBezTo>
                    <a:pt x="2809240" y="5080"/>
                    <a:pt x="2829560" y="1270"/>
                    <a:pt x="2847340" y="0"/>
                  </a:cubicBezTo>
                  <a:cubicBezTo>
                    <a:pt x="2865120" y="0"/>
                    <a:pt x="2871470" y="0"/>
                    <a:pt x="2896870" y="0"/>
                  </a:cubicBezTo>
                  <a:cubicBezTo>
                    <a:pt x="2976880" y="2540"/>
                    <a:pt x="3390900" y="20320"/>
                    <a:pt x="3393440" y="20320"/>
                  </a:cubicBezTo>
                  <a:cubicBezTo>
                    <a:pt x="3398520" y="20320"/>
                    <a:pt x="3505200" y="20320"/>
                    <a:pt x="3583940" y="20320"/>
                  </a:cubicBezTo>
                  <a:cubicBezTo>
                    <a:pt x="3714750" y="21590"/>
                    <a:pt x="3930650" y="16510"/>
                    <a:pt x="4103370" y="22860"/>
                  </a:cubicBezTo>
                  <a:cubicBezTo>
                    <a:pt x="4273550" y="29210"/>
                    <a:pt x="4433570" y="39370"/>
                    <a:pt x="4610100" y="58420"/>
                  </a:cubicBezTo>
                  <a:cubicBezTo>
                    <a:pt x="4806950" y="80010"/>
                    <a:pt x="5027930" y="113030"/>
                    <a:pt x="5232400" y="153670"/>
                  </a:cubicBezTo>
                  <a:cubicBezTo>
                    <a:pt x="5431790" y="193040"/>
                    <a:pt x="5819140" y="298450"/>
                    <a:pt x="5822950" y="299720"/>
                  </a:cubicBezTo>
                  <a:cubicBezTo>
                    <a:pt x="5824220" y="299720"/>
                    <a:pt x="5859780" y="304800"/>
                    <a:pt x="5878830" y="307340"/>
                  </a:cubicBezTo>
                  <a:cubicBezTo>
                    <a:pt x="5897880" y="309880"/>
                    <a:pt x="5935980" y="314960"/>
                    <a:pt x="5935980" y="314960"/>
                  </a:cubicBezTo>
                  <a:cubicBezTo>
                    <a:pt x="5937250" y="314960"/>
                    <a:pt x="5971540" y="328930"/>
                    <a:pt x="5989320" y="336550"/>
                  </a:cubicBezTo>
                  <a:cubicBezTo>
                    <a:pt x="6007100" y="342900"/>
                    <a:pt x="6042660" y="356870"/>
                    <a:pt x="6042660" y="356870"/>
                  </a:cubicBezTo>
                  <a:cubicBezTo>
                    <a:pt x="6043930" y="358140"/>
                    <a:pt x="6074410" y="379730"/>
                    <a:pt x="6089650" y="391160"/>
                  </a:cubicBezTo>
                  <a:cubicBezTo>
                    <a:pt x="6104890" y="401320"/>
                    <a:pt x="6135370" y="422910"/>
                    <a:pt x="6136640" y="424180"/>
                  </a:cubicBezTo>
                  <a:cubicBezTo>
                    <a:pt x="6136640" y="424180"/>
                    <a:pt x="6165850" y="458470"/>
                    <a:pt x="6173470" y="467360"/>
                  </a:cubicBezTo>
                  <a:cubicBezTo>
                    <a:pt x="6177280" y="471170"/>
                    <a:pt x="6179820" y="474980"/>
                    <a:pt x="6181090" y="476250"/>
                  </a:cubicBezTo>
                  <a:cubicBezTo>
                    <a:pt x="6181090" y="476250"/>
                    <a:pt x="6181090" y="476250"/>
                    <a:pt x="6182360" y="476250"/>
                  </a:cubicBezTo>
                  <a:cubicBezTo>
                    <a:pt x="6198870" y="481330"/>
                    <a:pt x="6567170" y="571500"/>
                    <a:pt x="6764020" y="627380"/>
                  </a:cubicBezTo>
                  <a:cubicBezTo>
                    <a:pt x="6968490" y="684530"/>
                    <a:pt x="7192010" y="742950"/>
                    <a:pt x="7386320" y="814070"/>
                  </a:cubicBezTo>
                  <a:cubicBezTo>
                    <a:pt x="7566660" y="880110"/>
                    <a:pt x="7894320" y="1037590"/>
                    <a:pt x="7894320" y="1037590"/>
                  </a:cubicBezTo>
                  <a:cubicBezTo>
                    <a:pt x="7895590" y="1037590"/>
                    <a:pt x="7932420" y="1041400"/>
                    <a:pt x="7951470" y="1043940"/>
                  </a:cubicBezTo>
                  <a:cubicBezTo>
                    <a:pt x="7970520" y="1046480"/>
                    <a:pt x="8007350" y="1051560"/>
                    <a:pt x="8008620" y="1051560"/>
                  </a:cubicBezTo>
                  <a:cubicBezTo>
                    <a:pt x="8009890" y="1051560"/>
                    <a:pt x="8044180" y="1064260"/>
                    <a:pt x="8061960" y="1071880"/>
                  </a:cubicBezTo>
                  <a:cubicBezTo>
                    <a:pt x="8079740" y="1078230"/>
                    <a:pt x="8115300" y="1090930"/>
                    <a:pt x="8115300" y="1092200"/>
                  </a:cubicBezTo>
                  <a:cubicBezTo>
                    <a:pt x="8116570" y="1092200"/>
                    <a:pt x="8147050" y="1113790"/>
                    <a:pt x="8163560" y="1123950"/>
                  </a:cubicBezTo>
                  <a:cubicBezTo>
                    <a:pt x="8178800" y="1135380"/>
                    <a:pt x="8209280" y="1156970"/>
                    <a:pt x="8210550" y="1156970"/>
                  </a:cubicBezTo>
                  <a:cubicBezTo>
                    <a:pt x="8210550" y="1158240"/>
                    <a:pt x="8235950" y="1186180"/>
                    <a:pt x="8248650" y="1200150"/>
                  </a:cubicBezTo>
                  <a:cubicBezTo>
                    <a:pt x="8261350" y="1214120"/>
                    <a:pt x="8285480" y="1242060"/>
                    <a:pt x="8286750" y="1243330"/>
                  </a:cubicBezTo>
                  <a:cubicBezTo>
                    <a:pt x="8286750" y="1243330"/>
                    <a:pt x="8304530" y="1276350"/>
                    <a:pt x="8313420" y="1294130"/>
                  </a:cubicBezTo>
                  <a:cubicBezTo>
                    <a:pt x="8322310" y="1310640"/>
                    <a:pt x="8340090" y="1343660"/>
                    <a:pt x="8340090" y="1344930"/>
                  </a:cubicBezTo>
                  <a:cubicBezTo>
                    <a:pt x="8340090" y="1344930"/>
                    <a:pt x="8348980" y="1381760"/>
                    <a:pt x="8354060" y="1400810"/>
                  </a:cubicBezTo>
                  <a:cubicBezTo>
                    <a:pt x="8357870" y="1418590"/>
                    <a:pt x="8366760" y="1455420"/>
                    <a:pt x="8366760" y="1456690"/>
                  </a:cubicBezTo>
                  <a:cubicBezTo>
                    <a:pt x="8366760" y="1456690"/>
                    <a:pt x="8366760" y="1468120"/>
                    <a:pt x="8366760" y="1469390"/>
                  </a:cubicBezTo>
                  <a:cubicBezTo>
                    <a:pt x="8368030" y="1470660"/>
                    <a:pt x="8369300" y="1470660"/>
                    <a:pt x="8369300" y="1470660"/>
                  </a:cubicBezTo>
                  <a:cubicBezTo>
                    <a:pt x="8369300" y="1470660"/>
                    <a:pt x="8401050" y="1492250"/>
                    <a:pt x="8416290" y="1503680"/>
                  </a:cubicBezTo>
                  <a:cubicBezTo>
                    <a:pt x="8432800" y="1513840"/>
                    <a:pt x="8463280" y="1535430"/>
                    <a:pt x="8463280" y="1535430"/>
                  </a:cubicBezTo>
                  <a:cubicBezTo>
                    <a:pt x="8464550" y="1536700"/>
                    <a:pt x="8488680" y="1564640"/>
                    <a:pt x="8501380" y="1578610"/>
                  </a:cubicBezTo>
                  <a:cubicBezTo>
                    <a:pt x="8514080" y="1592580"/>
                    <a:pt x="8539480" y="1620520"/>
                    <a:pt x="8539480" y="1621790"/>
                  </a:cubicBezTo>
                  <a:cubicBezTo>
                    <a:pt x="8540750" y="1623060"/>
                    <a:pt x="8557260" y="1656080"/>
                    <a:pt x="8566150" y="1672590"/>
                  </a:cubicBezTo>
                  <a:cubicBezTo>
                    <a:pt x="8575040" y="1689100"/>
                    <a:pt x="8592820" y="1722120"/>
                    <a:pt x="8592820" y="1723390"/>
                  </a:cubicBezTo>
                  <a:cubicBezTo>
                    <a:pt x="8594090" y="1724660"/>
                    <a:pt x="8601710" y="1760220"/>
                    <a:pt x="8606790" y="1779270"/>
                  </a:cubicBezTo>
                  <a:cubicBezTo>
                    <a:pt x="8611870" y="1798320"/>
                    <a:pt x="8620760" y="1833880"/>
                    <a:pt x="8620760" y="1835150"/>
                  </a:cubicBezTo>
                  <a:cubicBezTo>
                    <a:pt x="8620760" y="1835150"/>
                    <a:pt x="8616950" y="1844040"/>
                    <a:pt x="8620760" y="1850390"/>
                  </a:cubicBezTo>
                  <a:cubicBezTo>
                    <a:pt x="8637270" y="1880870"/>
                    <a:pt x="8849360" y="1938020"/>
                    <a:pt x="8916670" y="2044700"/>
                  </a:cubicBezTo>
                  <a:cubicBezTo>
                    <a:pt x="9013190" y="2197100"/>
                    <a:pt x="9094470" y="2578100"/>
                    <a:pt x="9011920" y="2755900"/>
                  </a:cubicBezTo>
                  <a:cubicBezTo>
                    <a:pt x="8935720" y="2922270"/>
                    <a:pt x="8675370" y="3011170"/>
                    <a:pt x="8484870" y="3098800"/>
                  </a:cubicBezTo>
                  <a:cubicBezTo>
                    <a:pt x="8290560" y="3188970"/>
                    <a:pt x="8054340" y="3239770"/>
                    <a:pt x="7854950" y="3288030"/>
                  </a:cubicBezTo>
                  <a:cubicBezTo>
                    <a:pt x="7675880" y="3331210"/>
                    <a:pt x="7523480" y="3350260"/>
                    <a:pt x="7343140" y="3382010"/>
                  </a:cubicBezTo>
                  <a:cubicBezTo>
                    <a:pt x="7141210" y="3418840"/>
                    <a:pt x="6907530" y="3472180"/>
                    <a:pt x="6700520" y="3492500"/>
                  </a:cubicBezTo>
                  <a:cubicBezTo>
                    <a:pt x="6512560" y="3510280"/>
                    <a:pt x="6297930" y="3510280"/>
                    <a:pt x="6153150" y="3505200"/>
                  </a:cubicBezTo>
                  <a:cubicBezTo>
                    <a:pt x="6059170" y="3501390"/>
                    <a:pt x="5996940" y="3470910"/>
                    <a:pt x="5918200" y="3482340"/>
                  </a:cubicBezTo>
                  <a:cubicBezTo>
                    <a:pt x="5833110" y="3495040"/>
                    <a:pt x="5764530" y="3564890"/>
                    <a:pt x="5661660" y="3583940"/>
                  </a:cubicBezTo>
                  <a:cubicBezTo>
                    <a:pt x="5520690" y="3610610"/>
                    <a:pt x="5292090" y="3589020"/>
                    <a:pt x="5142230" y="3583940"/>
                  </a:cubicBezTo>
                  <a:cubicBezTo>
                    <a:pt x="5029200" y="3580130"/>
                    <a:pt x="4927600" y="3567430"/>
                    <a:pt x="4845050" y="3564890"/>
                  </a:cubicBezTo>
                  <a:cubicBezTo>
                    <a:pt x="4785360" y="3562350"/>
                    <a:pt x="4759960" y="3564890"/>
                    <a:pt x="4693920" y="3564890"/>
                  </a:cubicBezTo>
                  <a:cubicBezTo>
                    <a:pt x="4563110" y="3564890"/>
                    <a:pt x="4312920" y="3564890"/>
                    <a:pt x="4112260" y="3564890"/>
                  </a:cubicBezTo>
                  <a:cubicBezTo>
                    <a:pt x="3898900" y="3564890"/>
                    <a:pt x="3669030" y="3564890"/>
                    <a:pt x="3449320" y="3564890"/>
                  </a:cubicBezTo>
                  <a:cubicBezTo>
                    <a:pt x="3233420" y="3564890"/>
                    <a:pt x="3012440" y="3589020"/>
                    <a:pt x="2807970" y="3562350"/>
                  </a:cubicBezTo>
                  <a:cubicBezTo>
                    <a:pt x="2612390" y="3538220"/>
                    <a:pt x="2303780" y="3484880"/>
                    <a:pt x="2247900" y="3421380"/>
                  </a:cubicBezTo>
                  <a:cubicBezTo>
                    <a:pt x="2227580" y="3397250"/>
                    <a:pt x="2259330" y="3361690"/>
                    <a:pt x="2239010" y="3342640"/>
                  </a:cubicBezTo>
                  <a:cubicBezTo>
                    <a:pt x="2188210" y="3295650"/>
                    <a:pt x="1931670" y="3346450"/>
                    <a:pt x="1761490" y="3331210"/>
                  </a:cubicBezTo>
                  <a:cubicBezTo>
                    <a:pt x="1564640" y="3313430"/>
                    <a:pt x="1127760" y="3234690"/>
                    <a:pt x="1125220" y="3234690"/>
                  </a:cubicBezTo>
                  <a:cubicBezTo>
                    <a:pt x="1123950" y="3234690"/>
                    <a:pt x="1087120" y="3233420"/>
                    <a:pt x="1068070" y="3232150"/>
                  </a:cubicBezTo>
                  <a:cubicBezTo>
                    <a:pt x="1049020" y="3232150"/>
                    <a:pt x="1010920" y="3230880"/>
                    <a:pt x="1010920" y="3230880"/>
                  </a:cubicBezTo>
                  <a:cubicBezTo>
                    <a:pt x="1009650" y="3229610"/>
                    <a:pt x="974090" y="3219450"/>
                    <a:pt x="955040" y="3214370"/>
                  </a:cubicBezTo>
                  <a:cubicBezTo>
                    <a:pt x="937260" y="3209290"/>
                    <a:pt x="900430" y="3199130"/>
                    <a:pt x="900430" y="3197860"/>
                  </a:cubicBezTo>
                  <a:cubicBezTo>
                    <a:pt x="899160" y="3197860"/>
                    <a:pt x="867410" y="3178810"/>
                    <a:pt x="850900" y="3169920"/>
                  </a:cubicBezTo>
                  <a:cubicBezTo>
                    <a:pt x="834390" y="3159760"/>
                    <a:pt x="801370" y="3141980"/>
                    <a:pt x="801370" y="3140710"/>
                  </a:cubicBezTo>
                  <a:cubicBezTo>
                    <a:pt x="800100" y="3140710"/>
                    <a:pt x="773430" y="3114040"/>
                    <a:pt x="759460" y="3101340"/>
                  </a:cubicBezTo>
                  <a:cubicBezTo>
                    <a:pt x="745490" y="3088640"/>
                    <a:pt x="718820" y="3061970"/>
                    <a:pt x="717550" y="3061970"/>
                  </a:cubicBezTo>
                  <a:cubicBezTo>
                    <a:pt x="717550" y="3060700"/>
                    <a:pt x="697230" y="3028950"/>
                    <a:pt x="687070" y="3013710"/>
                  </a:cubicBezTo>
                  <a:cubicBezTo>
                    <a:pt x="676910" y="2997200"/>
                    <a:pt x="656590" y="2965450"/>
                    <a:pt x="656590" y="2964180"/>
                  </a:cubicBezTo>
                  <a:cubicBezTo>
                    <a:pt x="656590" y="2964180"/>
                    <a:pt x="643890" y="2928620"/>
                    <a:pt x="638810" y="2910840"/>
                  </a:cubicBezTo>
                  <a:cubicBezTo>
                    <a:pt x="632460" y="2891790"/>
                    <a:pt x="619760" y="2856230"/>
                    <a:pt x="619760" y="2856230"/>
                  </a:cubicBezTo>
                  <a:cubicBezTo>
                    <a:pt x="619760" y="2854960"/>
                    <a:pt x="617220" y="2818130"/>
                    <a:pt x="615950" y="2799080"/>
                  </a:cubicBezTo>
                  <a:cubicBezTo>
                    <a:pt x="613410" y="2780030"/>
                    <a:pt x="610870" y="2741930"/>
                    <a:pt x="610870" y="2741930"/>
                  </a:cubicBezTo>
                  <a:cubicBezTo>
                    <a:pt x="610870" y="2740660"/>
                    <a:pt x="617220" y="2703830"/>
                    <a:pt x="619760" y="2684780"/>
                  </a:cubicBezTo>
                  <a:cubicBezTo>
                    <a:pt x="622300" y="2665730"/>
                    <a:pt x="628650" y="2628900"/>
                    <a:pt x="628650" y="2627630"/>
                  </a:cubicBezTo>
                  <a:cubicBezTo>
                    <a:pt x="628650" y="2627630"/>
                    <a:pt x="647700" y="2602230"/>
                    <a:pt x="642620" y="2594610"/>
                  </a:cubicBezTo>
                  <a:cubicBezTo>
                    <a:pt x="632460" y="2578100"/>
                    <a:pt x="474980" y="2588260"/>
                    <a:pt x="474980" y="2588260"/>
                  </a:cubicBezTo>
                  <a:cubicBezTo>
                    <a:pt x="473710" y="2588260"/>
                    <a:pt x="473710" y="2588260"/>
                    <a:pt x="473710" y="2588260"/>
                  </a:cubicBezTo>
                  <a:cubicBezTo>
                    <a:pt x="473710" y="2588260"/>
                    <a:pt x="436880" y="2583180"/>
                    <a:pt x="417830" y="2580640"/>
                  </a:cubicBezTo>
                  <a:cubicBezTo>
                    <a:pt x="398780" y="2579370"/>
                    <a:pt x="360680" y="2574290"/>
                    <a:pt x="360680" y="2574290"/>
                  </a:cubicBezTo>
                  <a:cubicBezTo>
                    <a:pt x="359410" y="2574290"/>
                    <a:pt x="323850" y="2560320"/>
                    <a:pt x="306070" y="2553970"/>
                  </a:cubicBezTo>
                  <a:cubicBezTo>
                    <a:pt x="288290" y="2547620"/>
                    <a:pt x="254000" y="2534920"/>
                    <a:pt x="252730" y="2533650"/>
                  </a:cubicBezTo>
                  <a:cubicBezTo>
                    <a:pt x="252730" y="2533650"/>
                    <a:pt x="220980" y="2512060"/>
                    <a:pt x="205740" y="2501900"/>
                  </a:cubicBezTo>
                  <a:cubicBezTo>
                    <a:pt x="189230" y="2490470"/>
                    <a:pt x="158750" y="2470150"/>
                    <a:pt x="157480" y="2468880"/>
                  </a:cubicBezTo>
                  <a:cubicBezTo>
                    <a:pt x="157480" y="2468880"/>
                    <a:pt x="132080" y="2440940"/>
                    <a:pt x="119380" y="2425700"/>
                  </a:cubicBezTo>
                  <a:cubicBezTo>
                    <a:pt x="106680" y="2411730"/>
                    <a:pt x="82550" y="2383790"/>
                    <a:pt x="81280" y="2383790"/>
                  </a:cubicBezTo>
                  <a:cubicBezTo>
                    <a:pt x="81280" y="2382520"/>
                    <a:pt x="63500" y="2349500"/>
                    <a:pt x="54610" y="2332990"/>
                  </a:cubicBezTo>
                  <a:cubicBezTo>
                    <a:pt x="45720" y="2315210"/>
                    <a:pt x="27940" y="2282190"/>
                    <a:pt x="27940" y="2282190"/>
                  </a:cubicBezTo>
                  <a:cubicBezTo>
                    <a:pt x="27940" y="2280920"/>
                    <a:pt x="19050" y="2245360"/>
                    <a:pt x="13970" y="2226310"/>
                  </a:cubicBezTo>
                  <a:cubicBezTo>
                    <a:pt x="8890" y="2207260"/>
                    <a:pt x="0" y="2171700"/>
                    <a:pt x="0" y="2170430"/>
                  </a:cubicBezTo>
                  <a:cubicBezTo>
                    <a:pt x="0" y="2170430"/>
                    <a:pt x="0" y="2132330"/>
                    <a:pt x="0" y="2113280"/>
                  </a:cubicBezTo>
                  <a:cubicBezTo>
                    <a:pt x="0" y="2094230"/>
                    <a:pt x="0" y="2056130"/>
                    <a:pt x="0" y="2056130"/>
                  </a:cubicBezTo>
                </a:path>
              </a:pathLst>
            </a:custGeom>
            <a:solidFill>
              <a:srgbClr val="FCFCFC"/>
            </a:solidFill>
            <a:ln cap="sq">
              <a:noFill/>
              <a:prstDash val="solid"/>
              <a:miter/>
            </a:ln>
          </p:spPr>
        </p:sp>
      </p:grpSp>
      <p:grpSp>
        <p:nvGrpSpPr>
          <p:cNvPr name="Group 20" id="20"/>
          <p:cNvGrpSpPr/>
          <p:nvPr/>
        </p:nvGrpSpPr>
        <p:grpSpPr>
          <a:xfrm rot="0">
            <a:off x="1917383" y="1494473"/>
            <a:ext cx="784860" cy="784860"/>
            <a:chOff x="0" y="0"/>
            <a:chExt cx="1046480" cy="1046480"/>
          </a:xfrm>
        </p:grpSpPr>
        <p:sp>
          <p:nvSpPr>
            <p:cNvPr name="Freeform 21" id="21"/>
            <p:cNvSpPr/>
            <p:nvPr/>
          </p:nvSpPr>
          <p:spPr>
            <a:xfrm flipH="false" flipV="false" rot="0">
              <a:off x="49837" y="43937"/>
              <a:ext cx="930603" cy="951435"/>
            </a:xfrm>
            <a:custGeom>
              <a:avLst/>
              <a:gdLst/>
              <a:ahLst/>
              <a:cxnLst/>
              <a:rect r="r" b="b" t="t" l="l"/>
              <a:pathLst>
                <a:path h="951435" w="930603">
                  <a:moveTo>
                    <a:pt x="930603" y="333253"/>
                  </a:moveTo>
                  <a:cubicBezTo>
                    <a:pt x="930603" y="634243"/>
                    <a:pt x="896313" y="710443"/>
                    <a:pt x="850593" y="768863"/>
                  </a:cubicBezTo>
                  <a:cubicBezTo>
                    <a:pt x="804873" y="827283"/>
                    <a:pt x="738833" y="879353"/>
                    <a:pt x="671523" y="909833"/>
                  </a:cubicBezTo>
                  <a:cubicBezTo>
                    <a:pt x="604213" y="940313"/>
                    <a:pt x="520393" y="955553"/>
                    <a:pt x="446733" y="950473"/>
                  </a:cubicBezTo>
                  <a:cubicBezTo>
                    <a:pt x="373073" y="946663"/>
                    <a:pt x="293063" y="921263"/>
                    <a:pt x="229563" y="883163"/>
                  </a:cubicBezTo>
                  <a:cubicBezTo>
                    <a:pt x="166063" y="845063"/>
                    <a:pt x="106373" y="785373"/>
                    <a:pt x="68273" y="721873"/>
                  </a:cubicBezTo>
                  <a:cubicBezTo>
                    <a:pt x="30173" y="658373"/>
                    <a:pt x="4773" y="577093"/>
                    <a:pt x="963" y="504703"/>
                  </a:cubicBezTo>
                  <a:cubicBezTo>
                    <a:pt x="-4117" y="431043"/>
                    <a:pt x="11123" y="347223"/>
                    <a:pt x="41603" y="279913"/>
                  </a:cubicBezTo>
                  <a:cubicBezTo>
                    <a:pt x="72083" y="212603"/>
                    <a:pt x="124153" y="145293"/>
                    <a:pt x="182573" y="100843"/>
                  </a:cubicBezTo>
                  <a:cubicBezTo>
                    <a:pt x="239723" y="55123"/>
                    <a:pt x="317193" y="19563"/>
                    <a:pt x="389583" y="6863"/>
                  </a:cubicBezTo>
                  <a:cubicBezTo>
                    <a:pt x="461973" y="-5837"/>
                    <a:pt x="547063" y="-757"/>
                    <a:pt x="616913" y="20833"/>
                  </a:cubicBezTo>
                  <a:cubicBezTo>
                    <a:pt x="688033" y="42423"/>
                    <a:pt x="812493" y="138943"/>
                    <a:pt x="812493" y="138943"/>
                  </a:cubicBezTo>
                </a:path>
              </a:pathLst>
            </a:custGeom>
            <a:solidFill>
              <a:srgbClr val="FCFCFC"/>
            </a:solidFill>
            <a:ln cap="sq">
              <a:noFill/>
              <a:prstDash val="solid"/>
              <a:miter/>
            </a:ln>
          </p:spPr>
        </p:sp>
      </p:grpSp>
      <p:grpSp>
        <p:nvGrpSpPr>
          <p:cNvPr name="Group 22" id="22"/>
          <p:cNvGrpSpPr/>
          <p:nvPr/>
        </p:nvGrpSpPr>
        <p:grpSpPr>
          <a:xfrm rot="0">
            <a:off x="1918335" y="888682"/>
            <a:ext cx="2403158" cy="2032635"/>
            <a:chOff x="0" y="0"/>
            <a:chExt cx="3204210" cy="2710180"/>
          </a:xfrm>
        </p:grpSpPr>
        <p:sp>
          <p:nvSpPr>
            <p:cNvPr name="Freeform 23" id="23"/>
            <p:cNvSpPr/>
            <p:nvPr/>
          </p:nvSpPr>
          <p:spPr>
            <a:xfrm flipH="false" flipV="false" rot="0">
              <a:off x="49428" y="50800"/>
              <a:ext cx="3103982" cy="2607566"/>
            </a:xfrm>
            <a:custGeom>
              <a:avLst/>
              <a:gdLst/>
              <a:ahLst/>
              <a:cxnLst/>
              <a:rect r="r" b="b" t="t" l="l"/>
              <a:pathLst>
                <a:path h="2607566" w="3103982">
                  <a:moveTo>
                    <a:pt x="1372" y="1266190"/>
                  </a:moveTo>
                  <a:cubicBezTo>
                    <a:pt x="39472" y="1117600"/>
                    <a:pt x="57252" y="1083310"/>
                    <a:pt x="78842" y="1051560"/>
                  </a:cubicBezTo>
                  <a:cubicBezTo>
                    <a:pt x="100432" y="1019810"/>
                    <a:pt x="125832" y="989330"/>
                    <a:pt x="153772" y="963930"/>
                  </a:cubicBezTo>
                  <a:cubicBezTo>
                    <a:pt x="181712" y="938530"/>
                    <a:pt x="226162" y="909320"/>
                    <a:pt x="247752" y="897890"/>
                  </a:cubicBezTo>
                  <a:cubicBezTo>
                    <a:pt x="256642" y="892810"/>
                    <a:pt x="261722" y="892810"/>
                    <a:pt x="269342" y="889000"/>
                  </a:cubicBezTo>
                  <a:cubicBezTo>
                    <a:pt x="279502" y="883920"/>
                    <a:pt x="289662" y="875030"/>
                    <a:pt x="301092" y="867410"/>
                  </a:cubicBezTo>
                  <a:cubicBezTo>
                    <a:pt x="315062" y="857250"/>
                    <a:pt x="346812" y="834390"/>
                    <a:pt x="348082" y="834390"/>
                  </a:cubicBezTo>
                  <a:cubicBezTo>
                    <a:pt x="349352" y="834390"/>
                    <a:pt x="383642" y="820420"/>
                    <a:pt x="401422" y="814070"/>
                  </a:cubicBezTo>
                  <a:cubicBezTo>
                    <a:pt x="419202" y="807720"/>
                    <a:pt x="454762" y="793750"/>
                    <a:pt x="456032" y="793750"/>
                  </a:cubicBezTo>
                  <a:cubicBezTo>
                    <a:pt x="456032" y="793750"/>
                    <a:pt x="492862" y="788670"/>
                    <a:pt x="511912" y="787400"/>
                  </a:cubicBezTo>
                  <a:cubicBezTo>
                    <a:pt x="530962" y="784860"/>
                    <a:pt x="543662" y="781050"/>
                    <a:pt x="569062" y="779780"/>
                  </a:cubicBezTo>
                  <a:cubicBezTo>
                    <a:pt x="622402" y="777240"/>
                    <a:pt x="716382" y="778510"/>
                    <a:pt x="810362" y="779780"/>
                  </a:cubicBezTo>
                  <a:cubicBezTo>
                    <a:pt x="943712" y="782320"/>
                    <a:pt x="1291692" y="800100"/>
                    <a:pt x="1294232" y="800100"/>
                  </a:cubicBezTo>
                  <a:cubicBezTo>
                    <a:pt x="1294232" y="800100"/>
                    <a:pt x="1332332" y="803910"/>
                    <a:pt x="1350112" y="806450"/>
                  </a:cubicBezTo>
                  <a:cubicBezTo>
                    <a:pt x="1366622" y="807720"/>
                    <a:pt x="1385672" y="814070"/>
                    <a:pt x="1394562" y="811530"/>
                  </a:cubicBezTo>
                  <a:cubicBezTo>
                    <a:pt x="1398372" y="810260"/>
                    <a:pt x="1402182" y="806450"/>
                    <a:pt x="1403452" y="806450"/>
                  </a:cubicBezTo>
                  <a:cubicBezTo>
                    <a:pt x="1403452" y="805180"/>
                    <a:pt x="1439012" y="793750"/>
                    <a:pt x="1458062" y="787400"/>
                  </a:cubicBezTo>
                  <a:cubicBezTo>
                    <a:pt x="1475842" y="782320"/>
                    <a:pt x="1511402" y="769620"/>
                    <a:pt x="1511402" y="769620"/>
                  </a:cubicBezTo>
                  <a:cubicBezTo>
                    <a:pt x="1511402" y="769620"/>
                    <a:pt x="1511402" y="769620"/>
                    <a:pt x="1512672" y="769620"/>
                  </a:cubicBezTo>
                  <a:cubicBezTo>
                    <a:pt x="1512672" y="769620"/>
                    <a:pt x="1550772" y="767080"/>
                    <a:pt x="1569822" y="765810"/>
                  </a:cubicBezTo>
                  <a:cubicBezTo>
                    <a:pt x="1588872" y="763270"/>
                    <a:pt x="1625702" y="760730"/>
                    <a:pt x="1626972" y="760730"/>
                  </a:cubicBezTo>
                  <a:cubicBezTo>
                    <a:pt x="1626972" y="760730"/>
                    <a:pt x="1722222" y="764540"/>
                    <a:pt x="1748892" y="749300"/>
                  </a:cubicBezTo>
                  <a:cubicBezTo>
                    <a:pt x="1766672" y="739140"/>
                    <a:pt x="1770482" y="718820"/>
                    <a:pt x="1780642" y="703580"/>
                  </a:cubicBezTo>
                  <a:cubicBezTo>
                    <a:pt x="1792072" y="687070"/>
                    <a:pt x="1812392" y="656590"/>
                    <a:pt x="1813662" y="656590"/>
                  </a:cubicBezTo>
                  <a:cubicBezTo>
                    <a:pt x="1813662" y="655320"/>
                    <a:pt x="1851762" y="622300"/>
                    <a:pt x="1856842" y="618490"/>
                  </a:cubicBezTo>
                  <a:cubicBezTo>
                    <a:pt x="1856842" y="617220"/>
                    <a:pt x="1856842" y="617220"/>
                    <a:pt x="1858112" y="617220"/>
                  </a:cubicBezTo>
                  <a:cubicBezTo>
                    <a:pt x="1860652" y="613410"/>
                    <a:pt x="1863192" y="593090"/>
                    <a:pt x="1865732" y="580390"/>
                  </a:cubicBezTo>
                  <a:cubicBezTo>
                    <a:pt x="1869542" y="562610"/>
                    <a:pt x="1878432" y="524510"/>
                    <a:pt x="1878432" y="523240"/>
                  </a:cubicBezTo>
                  <a:cubicBezTo>
                    <a:pt x="1878432" y="523240"/>
                    <a:pt x="1894942" y="488950"/>
                    <a:pt x="1903832" y="472440"/>
                  </a:cubicBezTo>
                  <a:cubicBezTo>
                    <a:pt x="1911452" y="454660"/>
                    <a:pt x="1927962" y="421640"/>
                    <a:pt x="1927962" y="420370"/>
                  </a:cubicBezTo>
                  <a:cubicBezTo>
                    <a:pt x="1927962" y="420370"/>
                    <a:pt x="1927962" y="420370"/>
                    <a:pt x="1929232" y="420370"/>
                  </a:cubicBezTo>
                  <a:cubicBezTo>
                    <a:pt x="1929232" y="420370"/>
                    <a:pt x="1953362" y="391160"/>
                    <a:pt x="1966062" y="375920"/>
                  </a:cubicBezTo>
                  <a:cubicBezTo>
                    <a:pt x="1977492" y="361950"/>
                    <a:pt x="2001622" y="332740"/>
                    <a:pt x="2001622" y="332740"/>
                  </a:cubicBezTo>
                  <a:cubicBezTo>
                    <a:pt x="2002892" y="332740"/>
                    <a:pt x="2002892" y="332740"/>
                    <a:pt x="2002892" y="332740"/>
                  </a:cubicBezTo>
                  <a:cubicBezTo>
                    <a:pt x="2002892" y="331470"/>
                    <a:pt x="2033372" y="309880"/>
                    <a:pt x="2048612" y="298450"/>
                  </a:cubicBezTo>
                  <a:cubicBezTo>
                    <a:pt x="2063852" y="287020"/>
                    <a:pt x="2094332" y="265430"/>
                    <a:pt x="2094332" y="264160"/>
                  </a:cubicBezTo>
                  <a:cubicBezTo>
                    <a:pt x="2095602" y="264160"/>
                    <a:pt x="2129892" y="250190"/>
                    <a:pt x="2147672" y="242570"/>
                  </a:cubicBezTo>
                  <a:cubicBezTo>
                    <a:pt x="2165452" y="234950"/>
                    <a:pt x="2199742" y="220980"/>
                    <a:pt x="2201012" y="220980"/>
                  </a:cubicBezTo>
                  <a:cubicBezTo>
                    <a:pt x="2201012" y="220980"/>
                    <a:pt x="2221332" y="220980"/>
                    <a:pt x="2230222" y="217170"/>
                  </a:cubicBezTo>
                  <a:cubicBezTo>
                    <a:pt x="2239112" y="210820"/>
                    <a:pt x="2242922" y="199390"/>
                    <a:pt x="2250542" y="189230"/>
                  </a:cubicBezTo>
                  <a:cubicBezTo>
                    <a:pt x="2260702" y="176530"/>
                    <a:pt x="2284832" y="143510"/>
                    <a:pt x="2284832" y="143510"/>
                  </a:cubicBezTo>
                  <a:cubicBezTo>
                    <a:pt x="2286102" y="143510"/>
                    <a:pt x="2315312" y="119380"/>
                    <a:pt x="2329282" y="106680"/>
                  </a:cubicBezTo>
                  <a:cubicBezTo>
                    <a:pt x="2344522" y="95250"/>
                    <a:pt x="2373732" y="71120"/>
                    <a:pt x="2375002" y="71120"/>
                  </a:cubicBezTo>
                  <a:cubicBezTo>
                    <a:pt x="2375002" y="71120"/>
                    <a:pt x="2409292" y="54610"/>
                    <a:pt x="2425802" y="46990"/>
                  </a:cubicBezTo>
                  <a:cubicBezTo>
                    <a:pt x="2443582" y="38100"/>
                    <a:pt x="2477872" y="22860"/>
                    <a:pt x="2477872" y="22860"/>
                  </a:cubicBezTo>
                  <a:cubicBezTo>
                    <a:pt x="2477872" y="21590"/>
                    <a:pt x="2477872" y="21590"/>
                    <a:pt x="2477872" y="21590"/>
                  </a:cubicBezTo>
                  <a:cubicBezTo>
                    <a:pt x="2479142" y="21590"/>
                    <a:pt x="2515972" y="15240"/>
                    <a:pt x="2535022" y="11430"/>
                  </a:cubicBezTo>
                  <a:cubicBezTo>
                    <a:pt x="2552802" y="7620"/>
                    <a:pt x="2589632" y="0"/>
                    <a:pt x="2590902" y="0"/>
                  </a:cubicBezTo>
                  <a:cubicBezTo>
                    <a:pt x="2592172" y="0"/>
                    <a:pt x="2629002" y="1270"/>
                    <a:pt x="2648052" y="2540"/>
                  </a:cubicBezTo>
                  <a:cubicBezTo>
                    <a:pt x="2667102" y="2540"/>
                    <a:pt x="2705202" y="5080"/>
                    <a:pt x="2705202" y="5080"/>
                  </a:cubicBezTo>
                  <a:cubicBezTo>
                    <a:pt x="2706472" y="5080"/>
                    <a:pt x="2742032" y="15240"/>
                    <a:pt x="2761082" y="20320"/>
                  </a:cubicBezTo>
                  <a:cubicBezTo>
                    <a:pt x="2778862" y="26670"/>
                    <a:pt x="2814422" y="36830"/>
                    <a:pt x="2815692" y="36830"/>
                  </a:cubicBezTo>
                  <a:cubicBezTo>
                    <a:pt x="2816962" y="36830"/>
                    <a:pt x="2848712" y="55880"/>
                    <a:pt x="2865222" y="66040"/>
                  </a:cubicBezTo>
                  <a:cubicBezTo>
                    <a:pt x="2881732" y="74930"/>
                    <a:pt x="2914752" y="93980"/>
                    <a:pt x="2914752" y="93980"/>
                  </a:cubicBezTo>
                  <a:cubicBezTo>
                    <a:pt x="2914752" y="93980"/>
                    <a:pt x="2914752" y="95250"/>
                    <a:pt x="2914752" y="95250"/>
                  </a:cubicBezTo>
                  <a:cubicBezTo>
                    <a:pt x="2916022" y="95250"/>
                    <a:pt x="2942692" y="120650"/>
                    <a:pt x="2956662" y="134620"/>
                  </a:cubicBezTo>
                  <a:cubicBezTo>
                    <a:pt x="2970632" y="147320"/>
                    <a:pt x="2997302" y="173990"/>
                    <a:pt x="2997302" y="173990"/>
                  </a:cubicBezTo>
                  <a:cubicBezTo>
                    <a:pt x="2998572" y="175260"/>
                    <a:pt x="3017622" y="207010"/>
                    <a:pt x="3027782" y="223520"/>
                  </a:cubicBezTo>
                  <a:cubicBezTo>
                    <a:pt x="3037942" y="238760"/>
                    <a:pt x="3058262" y="270510"/>
                    <a:pt x="3058262" y="271780"/>
                  </a:cubicBezTo>
                  <a:cubicBezTo>
                    <a:pt x="3059532" y="271780"/>
                    <a:pt x="3070962" y="308610"/>
                    <a:pt x="3076042" y="326390"/>
                  </a:cubicBezTo>
                  <a:cubicBezTo>
                    <a:pt x="3082392" y="344170"/>
                    <a:pt x="3095092" y="379730"/>
                    <a:pt x="3095092" y="381000"/>
                  </a:cubicBezTo>
                  <a:cubicBezTo>
                    <a:pt x="3095092" y="381000"/>
                    <a:pt x="3097632" y="419100"/>
                    <a:pt x="3098902" y="438150"/>
                  </a:cubicBezTo>
                  <a:cubicBezTo>
                    <a:pt x="3100172" y="457200"/>
                    <a:pt x="3103982" y="494030"/>
                    <a:pt x="3103982" y="495300"/>
                  </a:cubicBezTo>
                  <a:cubicBezTo>
                    <a:pt x="3102712" y="499110"/>
                    <a:pt x="3082392" y="671830"/>
                    <a:pt x="3069692" y="737870"/>
                  </a:cubicBezTo>
                  <a:cubicBezTo>
                    <a:pt x="3060802" y="783590"/>
                    <a:pt x="3049372" y="821690"/>
                    <a:pt x="3041752" y="855980"/>
                  </a:cubicBezTo>
                  <a:cubicBezTo>
                    <a:pt x="3036672" y="881380"/>
                    <a:pt x="3032862" y="896620"/>
                    <a:pt x="3030322" y="923290"/>
                  </a:cubicBezTo>
                  <a:cubicBezTo>
                    <a:pt x="3027782" y="957580"/>
                    <a:pt x="3043022" y="1018540"/>
                    <a:pt x="3032862" y="1047750"/>
                  </a:cubicBezTo>
                  <a:cubicBezTo>
                    <a:pt x="3025242" y="1066800"/>
                    <a:pt x="3008732" y="1066800"/>
                    <a:pt x="2997302" y="1089660"/>
                  </a:cubicBezTo>
                  <a:cubicBezTo>
                    <a:pt x="2968092" y="1145540"/>
                    <a:pt x="2931262" y="1333500"/>
                    <a:pt x="2909672" y="1417320"/>
                  </a:cubicBezTo>
                  <a:cubicBezTo>
                    <a:pt x="2895702" y="1468120"/>
                    <a:pt x="2883002" y="1517650"/>
                    <a:pt x="2879192" y="1543050"/>
                  </a:cubicBezTo>
                  <a:cubicBezTo>
                    <a:pt x="2876652" y="1554480"/>
                    <a:pt x="2877922" y="1554480"/>
                    <a:pt x="2876652" y="1565910"/>
                  </a:cubicBezTo>
                  <a:cubicBezTo>
                    <a:pt x="2870302" y="1600200"/>
                    <a:pt x="2834742" y="1719580"/>
                    <a:pt x="2825852" y="1766570"/>
                  </a:cubicBezTo>
                  <a:cubicBezTo>
                    <a:pt x="2820772" y="1790700"/>
                    <a:pt x="2819502" y="1804670"/>
                    <a:pt x="2816962" y="1823720"/>
                  </a:cubicBezTo>
                  <a:cubicBezTo>
                    <a:pt x="2814422" y="1842770"/>
                    <a:pt x="2809342" y="1879600"/>
                    <a:pt x="2809342" y="1879600"/>
                  </a:cubicBezTo>
                  <a:cubicBezTo>
                    <a:pt x="2809342" y="1879600"/>
                    <a:pt x="2809342" y="1879600"/>
                    <a:pt x="2809342" y="1880870"/>
                  </a:cubicBezTo>
                  <a:cubicBezTo>
                    <a:pt x="2808072" y="1880870"/>
                    <a:pt x="2794102" y="1915160"/>
                    <a:pt x="2787752" y="1932940"/>
                  </a:cubicBezTo>
                  <a:cubicBezTo>
                    <a:pt x="2780132" y="1950720"/>
                    <a:pt x="2766162" y="1986280"/>
                    <a:pt x="2766162" y="1986280"/>
                  </a:cubicBezTo>
                  <a:cubicBezTo>
                    <a:pt x="2764892" y="1987550"/>
                    <a:pt x="2743302" y="2018030"/>
                    <a:pt x="2731872" y="2033270"/>
                  </a:cubicBezTo>
                  <a:cubicBezTo>
                    <a:pt x="2720442" y="2048510"/>
                    <a:pt x="2698852" y="2078990"/>
                    <a:pt x="2698852" y="2078990"/>
                  </a:cubicBezTo>
                  <a:cubicBezTo>
                    <a:pt x="2697582" y="2080260"/>
                    <a:pt x="2669642" y="2104390"/>
                    <a:pt x="2654402" y="2117090"/>
                  </a:cubicBezTo>
                  <a:cubicBezTo>
                    <a:pt x="2640432" y="2128520"/>
                    <a:pt x="2611222" y="2153920"/>
                    <a:pt x="2611222" y="2153920"/>
                  </a:cubicBezTo>
                  <a:cubicBezTo>
                    <a:pt x="2609952" y="2153920"/>
                    <a:pt x="2609952" y="2153920"/>
                    <a:pt x="2609952" y="2153920"/>
                  </a:cubicBezTo>
                  <a:cubicBezTo>
                    <a:pt x="2609952" y="2153920"/>
                    <a:pt x="2575662" y="2170430"/>
                    <a:pt x="2559152" y="2179320"/>
                  </a:cubicBezTo>
                  <a:cubicBezTo>
                    <a:pt x="2542642" y="2188210"/>
                    <a:pt x="2508352" y="2204720"/>
                    <a:pt x="2508352" y="2204720"/>
                  </a:cubicBezTo>
                  <a:cubicBezTo>
                    <a:pt x="2508352" y="2204720"/>
                    <a:pt x="2508352" y="2204720"/>
                    <a:pt x="2507082" y="2204720"/>
                  </a:cubicBezTo>
                  <a:cubicBezTo>
                    <a:pt x="2507082" y="2204720"/>
                    <a:pt x="2470252" y="2213610"/>
                    <a:pt x="2451202" y="2217420"/>
                  </a:cubicBezTo>
                  <a:cubicBezTo>
                    <a:pt x="2433422" y="2221230"/>
                    <a:pt x="2396592" y="2230120"/>
                    <a:pt x="2395322" y="2230120"/>
                  </a:cubicBezTo>
                  <a:cubicBezTo>
                    <a:pt x="2395322" y="2230120"/>
                    <a:pt x="2357222" y="2228850"/>
                    <a:pt x="2338172" y="2228850"/>
                  </a:cubicBezTo>
                  <a:cubicBezTo>
                    <a:pt x="2319122" y="2227580"/>
                    <a:pt x="2281022" y="2227580"/>
                    <a:pt x="2281022" y="2227580"/>
                  </a:cubicBezTo>
                  <a:cubicBezTo>
                    <a:pt x="2279752" y="2226310"/>
                    <a:pt x="2250542" y="2216150"/>
                    <a:pt x="2235302" y="2214880"/>
                  </a:cubicBezTo>
                  <a:cubicBezTo>
                    <a:pt x="2220062" y="2212340"/>
                    <a:pt x="2189582" y="2216150"/>
                    <a:pt x="2189582" y="2216150"/>
                  </a:cubicBezTo>
                  <a:cubicBezTo>
                    <a:pt x="2188312" y="2216150"/>
                    <a:pt x="2155292" y="2198370"/>
                    <a:pt x="2136242" y="2203450"/>
                  </a:cubicBezTo>
                  <a:cubicBezTo>
                    <a:pt x="2103222" y="2212340"/>
                    <a:pt x="2065122" y="2274570"/>
                    <a:pt x="2025752" y="2308860"/>
                  </a:cubicBezTo>
                  <a:cubicBezTo>
                    <a:pt x="1982572" y="2346960"/>
                    <a:pt x="1903832" y="2402840"/>
                    <a:pt x="1886052" y="2424430"/>
                  </a:cubicBezTo>
                  <a:cubicBezTo>
                    <a:pt x="1879702" y="2430780"/>
                    <a:pt x="1882242" y="2432050"/>
                    <a:pt x="1877162" y="2439670"/>
                  </a:cubicBezTo>
                  <a:cubicBezTo>
                    <a:pt x="1860652" y="2458720"/>
                    <a:pt x="1786992" y="2523490"/>
                    <a:pt x="1760322" y="2540000"/>
                  </a:cubicBezTo>
                  <a:cubicBezTo>
                    <a:pt x="1747622" y="2547620"/>
                    <a:pt x="1737462" y="2547620"/>
                    <a:pt x="1729842" y="2552700"/>
                  </a:cubicBezTo>
                  <a:cubicBezTo>
                    <a:pt x="1723492" y="2556510"/>
                    <a:pt x="1720952" y="2560320"/>
                    <a:pt x="1714602" y="2564130"/>
                  </a:cubicBezTo>
                  <a:cubicBezTo>
                    <a:pt x="1703172" y="2570480"/>
                    <a:pt x="1681582" y="2573020"/>
                    <a:pt x="1665072" y="2578100"/>
                  </a:cubicBezTo>
                  <a:cubicBezTo>
                    <a:pt x="1648562" y="2584450"/>
                    <a:pt x="1630782" y="2594610"/>
                    <a:pt x="1616812" y="2598420"/>
                  </a:cubicBezTo>
                  <a:cubicBezTo>
                    <a:pt x="1607922" y="2599690"/>
                    <a:pt x="1600302" y="2598420"/>
                    <a:pt x="1591412" y="2599690"/>
                  </a:cubicBezTo>
                  <a:cubicBezTo>
                    <a:pt x="1582522" y="2600960"/>
                    <a:pt x="1576172" y="2604770"/>
                    <a:pt x="1566012" y="2606040"/>
                  </a:cubicBezTo>
                  <a:cubicBezTo>
                    <a:pt x="1552042" y="2608580"/>
                    <a:pt x="1531722" y="2603500"/>
                    <a:pt x="1515212" y="2603500"/>
                  </a:cubicBezTo>
                  <a:cubicBezTo>
                    <a:pt x="1497432" y="2604770"/>
                    <a:pt x="1477112" y="2608580"/>
                    <a:pt x="1463142" y="2607310"/>
                  </a:cubicBezTo>
                  <a:cubicBezTo>
                    <a:pt x="1452982" y="2606040"/>
                    <a:pt x="1446632" y="2602230"/>
                    <a:pt x="1439012" y="2600960"/>
                  </a:cubicBezTo>
                  <a:cubicBezTo>
                    <a:pt x="1430122" y="2599690"/>
                    <a:pt x="1422502" y="2600960"/>
                    <a:pt x="1412342" y="2599690"/>
                  </a:cubicBezTo>
                  <a:cubicBezTo>
                    <a:pt x="1398372" y="2595880"/>
                    <a:pt x="1380592" y="2585720"/>
                    <a:pt x="1364082" y="2580640"/>
                  </a:cubicBezTo>
                  <a:cubicBezTo>
                    <a:pt x="1348842" y="2575560"/>
                    <a:pt x="1327252" y="2573020"/>
                    <a:pt x="1314552" y="2566670"/>
                  </a:cubicBezTo>
                  <a:cubicBezTo>
                    <a:pt x="1305662" y="2562860"/>
                    <a:pt x="1300582" y="2556510"/>
                    <a:pt x="1292962" y="2552700"/>
                  </a:cubicBezTo>
                  <a:cubicBezTo>
                    <a:pt x="1285342" y="2548890"/>
                    <a:pt x="1277722" y="2548890"/>
                    <a:pt x="1268832" y="2543810"/>
                  </a:cubicBezTo>
                  <a:cubicBezTo>
                    <a:pt x="1257402" y="2536190"/>
                    <a:pt x="1243432" y="2520950"/>
                    <a:pt x="1229462" y="2510790"/>
                  </a:cubicBezTo>
                  <a:cubicBezTo>
                    <a:pt x="1215492" y="2499360"/>
                    <a:pt x="1196442" y="2491740"/>
                    <a:pt x="1186282" y="2481580"/>
                  </a:cubicBezTo>
                  <a:cubicBezTo>
                    <a:pt x="1178662" y="2475230"/>
                    <a:pt x="1176122" y="2467610"/>
                    <a:pt x="1171042" y="2461260"/>
                  </a:cubicBezTo>
                  <a:cubicBezTo>
                    <a:pt x="1164692" y="2454910"/>
                    <a:pt x="1157072" y="2452370"/>
                    <a:pt x="1150722" y="2444750"/>
                  </a:cubicBezTo>
                  <a:cubicBezTo>
                    <a:pt x="1141832" y="2433320"/>
                    <a:pt x="1134212" y="2414270"/>
                    <a:pt x="1124052" y="2400300"/>
                  </a:cubicBezTo>
                  <a:cubicBezTo>
                    <a:pt x="1113892" y="2386330"/>
                    <a:pt x="1098652" y="2372360"/>
                    <a:pt x="1092302" y="2359660"/>
                  </a:cubicBezTo>
                  <a:cubicBezTo>
                    <a:pt x="1087222" y="2350770"/>
                    <a:pt x="1087222" y="2343150"/>
                    <a:pt x="1083412" y="2335530"/>
                  </a:cubicBezTo>
                  <a:cubicBezTo>
                    <a:pt x="1080872" y="2327910"/>
                    <a:pt x="1074522" y="2322830"/>
                    <a:pt x="1070712" y="2312670"/>
                  </a:cubicBezTo>
                  <a:cubicBezTo>
                    <a:pt x="1065632" y="2299970"/>
                    <a:pt x="1063092" y="2279650"/>
                    <a:pt x="1059282" y="2263140"/>
                  </a:cubicBezTo>
                  <a:cubicBezTo>
                    <a:pt x="1054202" y="2246630"/>
                    <a:pt x="1044042" y="2227580"/>
                    <a:pt x="1042772" y="2213610"/>
                  </a:cubicBezTo>
                  <a:cubicBezTo>
                    <a:pt x="1040232" y="2203450"/>
                    <a:pt x="1042772" y="2197100"/>
                    <a:pt x="1041502" y="2188210"/>
                  </a:cubicBezTo>
                  <a:cubicBezTo>
                    <a:pt x="1041502" y="2179320"/>
                    <a:pt x="1036422" y="2172970"/>
                    <a:pt x="1036422" y="2162810"/>
                  </a:cubicBezTo>
                  <a:cubicBezTo>
                    <a:pt x="1035152" y="2148840"/>
                    <a:pt x="1040232" y="2128520"/>
                    <a:pt x="1041502" y="2112010"/>
                  </a:cubicBezTo>
                  <a:cubicBezTo>
                    <a:pt x="1042772" y="2094230"/>
                    <a:pt x="1038962" y="2073910"/>
                    <a:pt x="1041502" y="2059940"/>
                  </a:cubicBezTo>
                  <a:cubicBezTo>
                    <a:pt x="1042772" y="2049780"/>
                    <a:pt x="1047852" y="2043430"/>
                    <a:pt x="1049122" y="2035810"/>
                  </a:cubicBezTo>
                  <a:cubicBezTo>
                    <a:pt x="1050392" y="2026920"/>
                    <a:pt x="1049122" y="2019300"/>
                    <a:pt x="1051662" y="2009140"/>
                  </a:cubicBezTo>
                  <a:cubicBezTo>
                    <a:pt x="1055472" y="1996440"/>
                    <a:pt x="1066902" y="1978660"/>
                    <a:pt x="1073252" y="1962150"/>
                  </a:cubicBezTo>
                  <a:cubicBezTo>
                    <a:pt x="1079602" y="1946910"/>
                    <a:pt x="1082142" y="1925320"/>
                    <a:pt x="1089762" y="1913890"/>
                  </a:cubicBezTo>
                  <a:cubicBezTo>
                    <a:pt x="1093572" y="1905000"/>
                    <a:pt x="1099922" y="1899920"/>
                    <a:pt x="1105002" y="1892300"/>
                  </a:cubicBezTo>
                  <a:cubicBezTo>
                    <a:pt x="1108812" y="1884680"/>
                    <a:pt x="1110082" y="1877060"/>
                    <a:pt x="1115162" y="1869440"/>
                  </a:cubicBezTo>
                  <a:cubicBezTo>
                    <a:pt x="1122782" y="1858010"/>
                    <a:pt x="1139292" y="1844040"/>
                    <a:pt x="1150722" y="1831340"/>
                  </a:cubicBezTo>
                  <a:cubicBezTo>
                    <a:pt x="1160882" y="1818640"/>
                    <a:pt x="1181202" y="1794510"/>
                    <a:pt x="1179932" y="1791970"/>
                  </a:cubicBezTo>
                  <a:cubicBezTo>
                    <a:pt x="1179932" y="1791970"/>
                    <a:pt x="1177392" y="1791970"/>
                    <a:pt x="1176122" y="1791970"/>
                  </a:cubicBezTo>
                  <a:cubicBezTo>
                    <a:pt x="1169772" y="1794510"/>
                    <a:pt x="1138022" y="1818640"/>
                    <a:pt x="1138022" y="1818640"/>
                  </a:cubicBezTo>
                  <a:cubicBezTo>
                    <a:pt x="1136752" y="1818640"/>
                    <a:pt x="1101192" y="1832610"/>
                    <a:pt x="1083412" y="1838960"/>
                  </a:cubicBezTo>
                  <a:cubicBezTo>
                    <a:pt x="1065632" y="1845310"/>
                    <a:pt x="1031342" y="1858010"/>
                    <a:pt x="1030072" y="1859280"/>
                  </a:cubicBezTo>
                  <a:cubicBezTo>
                    <a:pt x="1028802" y="1859280"/>
                    <a:pt x="991972" y="1863090"/>
                    <a:pt x="972922" y="1865630"/>
                  </a:cubicBezTo>
                  <a:cubicBezTo>
                    <a:pt x="953872" y="1868170"/>
                    <a:pt x="917042" y="1871980"/>
                    <a:pt x="915772" y="1871980"/>
                  </a:cubicBezTo>
                  <a:cubicBezTo>
                    <a:pt x="913232" y="1871980"/>
                    <a:pt x="617322" y="1833880"/>
                    <a:pt x="516992" y="1814830"/>
                  </a:cubicBezTo>
                  <a:cubicBezTo>
                    <a:pt x="454762" y="1803400"/>
                    <a:pt x="412852" y="1793240"/>
                    <a:pt x="368402" y="1780540"/>
                  </a:cubicBezTo>
                  <a:cubicBezTo>
                    <a:pt x="329032" y="1769110"/>
                    <a:pt x="293472" y="1757680"/>
                    <a:pt x="260452" y="1741170"/>
                  </a:cubicBezTo>
                  <a:cubicBezTo>
                    <a:pt x="226162" y="1723390"/>
                    <a:pt x="193142" y="1701800"/>
                    <a:pt x="163932" y="1677670"/>
                  </a:cubicBezTo>
                  <a:cubicBezTo>
                    <a:pt x="135992" y="1652270"/>
                    <a:pt x="109322" y="1623060"/>
                    <a:pt x="86462" y="1592580"/>
                  </a:cubicBezTo>
                  <a:cubicBezTo>
                    <a:pt x="64872" y="1562100"/>
                    <a:pt x="45822" y="1526540"/>
                    <a:pt x="31852" y="1490980"/>
                  </a:cubicBezTo>
                  <a:cubicBezTo>
                    <a:pt x="17882" y="1456690"/>
                    <a:pt x="7722" y="1418590"/>
                    <a:pt x="2642" y="1380490"/>
                  </a:cubicBezTo>
                  <a:cubicBezTo>
                    <a:pt x="-2438" y="1342390"/>
                    <a:pt x="1372" y="1266190"/>
                    <a:pt x="1372" y="1266190"/>
                  </a:cubicBezTo>
                </a:path>
              </a:pathLst>
            </a:custGeom>
            <a:solidFill>
              <a:srgbClr val="FCFCFC"/>
            </a:solidFill>
            <a:ln cap="sq">
              <a:noFill/>
              <a:prstDash val="solid"/>
              <a:miter/>
            </a:ln>
          </p:spPr>
        </p:sp>
      </p:grpSp>
      <p:grpSp>
        <p:nvGrpSpPr>
          <p:cNvPr name="Group 24" id="24"/>
          <p:cNvGrpSpPr/>
          <p:nvPr/>
        </p:nvGrpSpPr>
        <p:grpSpPr>
          <a:xfrm rot="0">
            <a:off x="1544955" y="1399223"/>
            <a:ext cx="2506980" cy="865823"/>
            <a:chOff x="0" y="0"/>
            <a:chExt cx="3342640" cy="1154430"/>
          </a:xfrm>
        </p:grpSpPr>
        <p:sp>
          <p:nvSpPr>
            <p:cNvPr name="Freeform 25" id="25"/>
            <p:cNvSpPr/>
            <p:nvPr/>
          </p:nvSpPr>
          <p:spPr>
            <a:xfrm flipH="false" flipV="false" rot="0">
              <a:off x="47942" y="46034"/>
              <a:ext cx="3244527" cy="1059677"/>
            </a:xfrm>
            <a:custGeom>
              <a:avLst/>
              <a:gdLst/>
              <a:ahLst/>
              <a:cxnLst/>
              <a:rect r="r" b="b" t="t" l="l"/>
              <a:pathLst>
                <a:path h="1059677" w="3244527">
                  <a:moveTo>
                    <a:pt x="475298" y="103826"/>
                  </a:moveTo>
                  <a:cubicBezTo>
                    <a:pt x="757238" y="97476"/>
                    <a:pt x="971868" y="58106"/>
                    <a:pt x="1138238" y="45406"/>
                  </a:cubicBezTo>
                  <a:cubicBezTo>
                    <a:pt x="1299528" y="32706"/>
                    <a:pt x="1422718" y="30166"/>
                    <a:pt x="1617028" y="23816"/>
                  </a:cubicBezTo>
                  <a:cubicBezTo>
                    <a:pt x="1918018" y="14926"/>
                    <a:pt x="2564448" y="-10474"/>
                    <a:pt x="2768918" y="4766"/>
                  </a:cubicBezTo>
                  <a:cubicBezTo>
                    <a:pt x="2842578" y="9846"/>
                    <a:pt x="2873058" y="13656"/>
                    <a:pt x="2920048" y="28896"/>
                  </a:cubicBezTo>
                  <a:cubicBezTo>
                    <a:pt x="2968308" y="45406"/>
                    <a:pt x="3016568" y="70806"/>
                    <a:pt x="3057208" y="101286"/>
                  </a:cubicBezTo>
                  <a:cubicBezTo>
                    <a:pt x="3096578" y="131766"/>
                    <a:pt x="3134678" y="171136"/>
                    <a:pt x="3162618" y="213046"/>
                  </a:cubicBezTo>
                  <a:cubicBezTo>
                    <a:pt x="3190558" y="254956"/>
                    <a:pt x="3213418" y="304486"/>
                    <a:pt x="3227388" y="352746"/>
                  </a:cubicBezTo>
                  <a:cubicBezTo>
                    <a:pt x="3241358" y="402276"/>
                    <a:pt x="3246438" y="455616"/>
                    <a:pt x="3243898" y="506416"/>
                  </a:cubicBezTo>
                  <a:cubicBezTo>
                    <a:pt x="3241358" y="557216"/>
                    <a:pt x="3229928" y="609286"/>
                    <a:pt x="3210878" y="657546"/>
                  </a:cubicBezTo>
                  <a:cubicBezTo>
                    <a:pt x="3191828" y="704536"/>
                    <a:pt x="3163888" y="750256"/>
                    <a:pt x="3130868" y="789626"/>
                  </a:cubicBezTo>
                  <a:cubicBezTo>
                    <a:pt x="3099118" y="827726"/>
                    <a:pt x="3057208" y="862016"/>
                    <a:pt x="3014028" y="888686"/>
                  </a:cubicBezTo>
                  <a:cubicBezTo>
                    <a:pt x="2970848" y="915356"/>
                    <a:pt x="2920048" y="934406"/>
                    <a:pt x="2870518" y="945836"/>
                  </a:cubicBezTo>
                  <a:cubicBezTo>
                    <a:pt x="2820988" y="957266"/>
                    <a:pt x="2767648" y="959806"/>
                    <a:pt x="2716848" y="954726"/>
                  </a:cubicBezTo>
                  <a:cubicBezTo>
                    <a:pt x="2666048" y="948376"/>
                    <a:pt x="2613978" y="934406"/>
                    <a:pt x="2568258" y="912816"/>
                  </a:cubicBezTo>
                  <a:cubicBezTo>
                    <a:pt x="2522538" y="891226"/>
                    <a:pt x="2478088" y="860746"/>
                    <a:pt x="2441258" y="826456"/>
                  </a:cubicBezTo>
                  <a:cubicBezTo>
                    <a:pt x="2404428" y="790896"/>
                    <a:pt x="2371408" y="748986"/>
                    <a:pt x="2347278" y="703266"/>
                  </a:cubicBezTo>
                  <a:cubicBezTo>
                    <a:pt x="2324418" y="658816"/>
                    <a:pt x="2306638" y="608016"/>
                    <a:pt x="2299018" y="557216"/>
                  </a:cubicBezTo>
                  <a:cubicBezTo>
                    <a:pt x="2290128" y="507686"/>
                    <a:pt x="2290128" y="453076"/>
                    <a:pt x="2299018" y="403546"/>
                  </a:cubicBezTo>
                  <a:cubicBezTo>
                    <a:pt x="2306638" y="354016"/>
                    <a:pt x="2324418" y="301946"/>
                    <a:pt x="2347278" y="257496"/>
                  </a:cubicBezTo>
                  <a:cubicBezTo>
                    <a:pt x="2371408" y="213046"/>
                    <a:pt x="2404428" y="169866"/>
                    <a:pt x="2441258" y="134306"/>
                  </a:cubicBezTo>
                  <a:cubicBezTo>
                    <a:pt x="2478088" y="100016"/>
                    <a:pt x="2522538" y="69536"/>
                    <a:pt x="2568258" y="47946"/>
                  </a:cubicBezTo>
                  <a:cubicBezTo>
                    <a:pt x="2613978" y="27626"/>
                    <a:pt x="2666048" y="12386"/>
                    <a:pt x="2716848" y="7306"/>
                  </a:cubicBezTo>
                  <a:cubicBezTo>
                    <a:pt x="2767648" y="2226"/>
                    <a:pt x="2820988" y="4766"/>
                    <a:pt x="2870518" y="16196"/>
                  </a:cubicBezTo>
                  <a:cubicBezTo>
                    <a:pt x="2920048" y="26356"/>
                    <a:pt x="2970848" y="46676"/>
                    <a:pt x="3014028" y="72076"/>
                  </a:cubicBezTo>
                  <a:cubicBezTo>
                    <a:pt x="3057208" y="98746"/>
                    <a:pt x="3099118" y="134306"/>
                    <a:pt x="3132138" y="172406"/>
                  </a:cubicBezTo>
                  <a:cubicBezTo>
                    <a:pt x="3163888" y="210506"/>
                    <a:pt x="3191828" y="257496"/>
                    <a:pt x="3210878" y="304486"/>
                  </a:cubicBezTo>
                  <a:cubicBezTo>
                    <a:pt x="3229928" y="351476"/>
                    <a:pt x="3241358" y="404816"/>
                    <a:pt x="3243898" y="455616"/>
                  </a:cubicBezTo>
                  <a:cubicBezTo>
                    <a:pt x="3246438" y="505146"/>
                    <a:pt x="3241358" y="559756"/>
                    <a:pt x="3227388" y="608016"/>
                  </a:cubicBezTo>
                  <a:cubicBezTo>
                    <a:pt x="3213418" y="657546"/>
                    <a:pt x="3190558" y="705806"/>
                    <a:pt x="3162618" y="747716"/>
                  </a:cubicBezTo>
                  <a:cubicBezTo>
                    <a:pt x="3134678" y="789626"/>
                    <a:pt x="3096578" y="828996"/>
                    <a:pt x="3057208" y="859476"/>
                  </a:cubicBezTo>
                  <a:cubicBezTo>
                    <a:pt x="3016568" y="889956"/>
                    <a:pt x="2968308" y="915356"/>
                    <a:pt x="2920048" y="931866"/>
                  </a:cubicBezTo>
                  <a:cubicBezTo>
                    <a:pt x="2871788" y="948376"/>
                    <a:pt x="2836228" y="949646"/>
                    <a:pt x="2768918" y="957266"/>
                  </a:cubicBezTo>
                  <a:cubicBezTo>
                    <a:pt x="2635568" y="969966"/>
                    <a:pt x="2396808" y="973776"/>
                    <a:pt x="2175828" y="976316"/>
                  </a:cubicBezTo>
                  <a:cubicBezTo>
                    <a:pt x="1891348" y="980126"/>
                    <a:pt x="1483678" y="947106"/>
                    <a:pt x="1204278" y="967426"/>
                  </a:cubicBezTo>
                  <a:cubicBezTo>
                    <a:pt x="988378" y="983936"/>
                    <a:pt x="767398" y="1046166"/>
                    <a:pt x="636588" y="1056326"/>
                  </a:cubicBezTo>
                  <a:cubicBezTo>
                    <a:pt x="566738" y="1061406"/>
                    <a:pt x="524828" y="1060136"/>
                    <a:pt x="475298" y="1056326"/>
                  </a:cubicBezTo>
                  <a:cubicBezTo>
                    <a:pt x="434658" y="1053786"/>
                    <a:pt x="399098" y="1051246"/>
                    <a:pt x="362268" y="1042356"/>
                  </a:cubicBezTo>
                  <a:cubicBezTo>
                    <a:pt x="325438" y="1033466"/>
                    <a:pt x="288608" y="1019496"/>
                    <a:pt x="254318" y="1001716"/>
                  </a:cubicBezTo>
                  <a:cubicBezTo>
                    <a:pt x="221298" y="983936"/>
                    <a:pt x="188278" y="962346"/>
                    <a:pt x="160338" y="936946"/>
                  </a:cubicBezTo>
                  <a:cubicBezTo>
                    <a:pt x="131128" y="911546"/>
                    <a:pt x="105728" y="882336"/>
                    <a:pt x="84138" y="850586"/>
                  </a:cubicBezTo>
                  <a:cubicBezTo>
                    <a:pt x="62548" y="820106"/>
                    <a:pt x="43498" y="784546"/>
                    <a:pt x="30798" y="748986"/>
                  </a:cubicBezTo>
                  <a:cubicBezTo>
                    <a:pt x="16828" y="713426"/>
                    <a:pt x="7938" y="675326"/>
                    <a:pt x="2858" y="637226"/>
                  </a:cubicBezTo>
                  <a:cubicBezTo>
                    <a:pt x="-952" y="600396"/>
                    <a:pt x="-952" y="561026"/>
                    <a:pt x="2858" y="522926"/>
                  </a:cubicBezTo>
                  <a:cubicBezTo>
                    <a:pt x="7938" y="484826"/>
                    <a:pt x="16828" y="446726"/>
                    <a:pt x="30798" y="411166"/>
                  </a:cubicBezTo>
                  <a:cubicBezTo>
                    <a:pt x="43498" y="375606"/>
                    <a:pt x="62548" y="341316"/>
                    <a:pt x="84138" y="309566"/>
                  </a:cubicBezTo>
                  <a:cubicBezTo>
                    <a:pt x="105728" y="279086"/>
                    <a:pt x="131128" y="248606"/>
                    <a:pt x="160338" y="223206"/>
                  </a:cubicBezTo>
                  <a:cubicBezTo>
                    <a:pt x="188278" y="199076"/>
                    <a:pt x="221298" y="176216"/>
                    <a:pt x="254318" y="158436"/>
                  </a:cubicBezTo>
                  <a:cubicBezTo>
                    <a:pt x="288608" y="140656"/>
                    <a:pt x="325438" y="126686"/>
                    <a:pt x="362268" y="117796"/>
                  </a:cubicBezTo>
                  <a:cubicBezTo>
                    <a:pt x="399098" y="108906"/>
                    <a:pt x="475298" y="103826"/>
                    <a:pt x="475298" y="103826"/>
                  </a:cubicBezTo>
                </a:path>
              </a:pathLst>
            </a:custGeom>
            <a:solidFill>
              <a:srgbClr val="FCFCFC"/>
            </a:solidFill>
            <a:ln cap="sq">
              <a:noFill/>
              <a:prstDash val="solid"/>
              <a:miter/>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461534" y="2396995"/>
            <a:ext cx="7019141" cy="2500059"/>
            <a:chOff x="0" y="0"/>
            <a:chExt cx="1987590" cy="707935"/>
          </a:xfrm>
        </p:grpSpPr>
        <p:sp>
          <p:nvSpPr>
            <p:cNvPr name="Freeform 3" id="3"/>
            <p:cNvSpPr/>
            <p:nvPr/>
          </p:nvSpPr>
          <p:spPr>
            <a:xfrm flipH="false" flipV="false" rot="0">
              <a:off x="0" y="0"/>
              <a:ext cx="1987591" cy="707935"/>
            </a:xfrm>
            <a:custGeom>
              <a:avLst/>
              <a:gdLst/>
              <a:ahLst/>
              <a:cxnLst/>
              <a:rect r="r" b="b" t="t" l="l"/>
              <a:pathLst>
                <a:path h="707935" w="1987591">
                  <a:moveTo>
                    <a:pt x="30883" y="0"/>
                  </a:moveTo>
                  <a:lnTo>
                    <a:pt x="1956707" y="0"/>
                  </a:lnTo>
                  <a:cubicBezTo>
                    <a:pt x="1964898" y="0"/>
                    <a:pt x="1972753" y="3254"/>
                    <a:pt x="1978545" y="9045"/>
                  </a:cubicBezTo>
                  <a:cubicBezTo>
                    <a:pt x="1984337" y="14837"/>
                    <a:pt x="1987591" y="22692"/>
                    <a:pt x="1987591" y="30883"/>
                  </a:cubicBezTo>
                  <a:lnTo>
                    <a:pt x="1987591" y="677051"/>
                  </a:lnTo>
                  <a:cubicBezTo>
                    <a:pt x="1987591" y="694108"/>
                    <a:pt x="1973764" y="707935"/>
                    <a:pt x="1956707" y="707935"/>
                  </a:cubicBezTo>
                  <a:lnTo>
                    <a:pt x="30883" y="707935"/>
                  </a:lnTo>
                  <a:cubicBezTo>
                    <a:pt x="22692" y="707935"/>
                    <a:pt x="14837" y="704681"/>
                    <a:pt x="9045" y="698889"/>
                  </a:cubicBezTo>
                  <a:cubicBezTo>
                    <a:pt x="3254" y="693097"/>
                    <a:pt x="0" y="685242"/>
                    <a:pt x="0" y="677051"/>
                  </a:cubicBezTo>
                  <a:lnTo>
                    <a:pt x="0" y="30883"/>
                  </a:lnTo>
                  <a:cubicBezTo>
                    <a:pt x="0" y="22692"/>
                    <a:pt x="3254" y="14837"/>
                    <a:pt x="9045" y="9045"/>
                  </a:cubicBezTo>
                  <a:cubicBezTo>
                    <a:pt x="14837" y="3254"/>
                    <a:pt x="22692" y="0"/>
                    <a:pt x="30883" y="0"/>
                  </a:cubicBezTo>
                  <a:close/>
                </a:path>
              </a:pathLst>
            </a:custGeom>
            <a:solidFill>
              <a:srgbClr val="343434"/>
            </a:solidFill>
            <a:ln cap="rnd">
              <a:noFill/>
              <a:prstDash val="solid"/>
              <a:round/>
            </a:ln>
          </p:spPr>
        </p:sp>
        <p:sp>
          <p:nvSpPr>
            <p:cNvPr name="TextBox 4" id="4"/>
            <p:cNvSpPr txBox="true"/>
            <p:nvPr/>
          </p:nvSpPr>
          <p:spPr>
            <a:xfrm>
              <a:off x="0" y="19050"/>
              <a:ext cx="1987590" cy="688885"/>
            </a:xfrm>
            <a:prstGeom prst="rect">
              <a:avLst/>
            </a:prstGeom>
          </p:spPr>
          <p:txBody>
            <a:bodyPr anchor="ctr" rtlCol="false" tIns="50800" lIns="50800" bIns="50800" rIns="50800"/>
            <a:lstStyle/>
            <a:p>
              <a:pPr algn="ctr" marL="0" indent="0" lvl="0">
                <a:lnSpc>
                  <a:spcPts val="1543"/>
                </a:lnSpc>
              </a:pPr>
            </a:p>
          </p:txBody>
        </p:sp>
      </p:grpSp>
      <p:sp>
        <p:nvSpPr>
          <p:cNvPr name="Freeform 5" id="5"/>
          <p:cNvSpPr/>
          <p:nvPr/>
        </p:nvSpPr>
        <p:spPr>
          <a:xfrm flipH="false" flipV="false" rot="0">
            <a:off x="7464711" y="0"/>
            <a:ext cx="10823289" cy="10287000"/>
          </a:xfrm>
          <a:custGeom>
            <a:avLst/>
            <a:gdLst/>
            <a:ahLst/>
            <a:cxnLst/>
            <a:rect r="r" b="b" t="t" l="l"/>
            <a:pathLst>
              <a:path h="10287000" w="10823289">
                <a:moveTo>
                  <a:pt x="0" y="0"/>
                </a:moveTo>
                <a:lnTo>
                  <a:pt x="10823289" y="0"/>
                </a:lnTo>
                <a:lnTo>
                  <a:pt x="10823289" y="10287000"/>
                </a:lnTo>
                <a:lnTo>
                  <a:pt x="0" y="10287000"/>
                </a:lnTo>
                <a:lnTo>
                  <a:pt x="0" y="0"/>
                </a:lnTo>
                <a:close/>
              </a:path>
            </a:pathLst>
          </a:custGeom>
          <a:blipFill>
            <a:blip r:embed="rId2"/>
            <a:stretch>
              <a:fillRect l="0" t="-2606" r="0" b="-2606"/>
            </a:stretch>
          </a:blipFill>
        </p:spPr>
      </p:sp>
      <p:sp>
        <p:nvSpPr>
          <p:cNvPr name="Freeform 6" id="6"/>
          <p:cNvSpPr/>
          <p:nvPr/>
        </p:nvSpPr>
        <p:spPr>
          <a:xfrm flipH="false" flipV="false" rot="0">
            <a:off x="288716" y="9258300"/>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356034" y="58390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sp>
        <p:nvSpPr>
          <p:cNvPr name="TextBox 10" id="10"/>
          <p:cNvSpPr txBox="true"/>
          <p:nvPr/>
        </p:nvSpPr>
        <p:spPr>
          <a:xfrm rot="0">
            <a:off x="86720" y="5973261"/>
            <a:ext cx="7536541" cy="2707893"/>
          </a:xfrm>
          <a:prstGeom prst="rect">
            <a:avLst/>
          </a:prstGeom>
        </p:spPr>
        <p:txBody>
          <a:bodyPr anchor="t" rtlCol="false" tIns="0" lIns="0" bIns="0" rIns="0">
            <a:spAutoFit/>
          </a:bodyPr>
          <a:lstStyle/>
          <a:p>
            <a:pPr algn="l" marL="0" indent="0" lvl="0">
              <a:lnSpc>
                <a:spcPts val="3067"/>
              </a:lnSpc>
              <a:spcBef>
                <a:spcPct val="0"/>
              </a:spcBef>
            </a:pPr>
            <a:r>
              <a:rPr lang="en-US" b="true" sz="2949" spc="-29" strike="noStrike" u="none">
                <a:solidFill>
                  <a:srgbClr val="1F191A"/>
                </a:solidFill>
                <a:latin typeface="Poppins Bold"/>
                <a:ea typeface="Poppins Bold"/>
                <a:cs typeface="Poppins Bold"/>
                <a:sym typeface="Poppins Bold"/>
              </a:rPr>
              <a:t>Next steps</a:t>
            </a:r>
            <a:r>
              <a:rPr lang="en-US" sz="2949" spc="-29" strike="noStrike" u="none">
                <a:solidFill>
                  <a:srgbClr val="1F191A"/>
                </a:solidFill>
                <a:latin typeface="Poppins Light"/>
                <a:ea typeface="Poppins Light"/>
                <a:cs typeface="Poppins Light"/>
                <a:sym typeface="Poppins Light"/>
              </a:rPr>
              <a:t>: improve website-model recall and generalisation; expand UAT to more diverse, non-specialist users; refine trust-confirmation dialogs; support additional webmail providers; and broaden automated end-to-end browser testing.</a:t>
            </a:r>
          </a:p>
        </p:txBody>
      </p:sp>
      <p:sp>
        <p:nvSpPr>
          <p:cNvPr name="TextBox 11" id="11"/>
          <p:cNvSpPr txBox="true"/>
          <p:nvPr/>
        </p:nvSpPr>
        <p:spPr>
          <a:xfrm rot="0">
            <a:off x="812726" y="2717939"/>
            <a:ext cx="5733627" cy="2034921"/>
          </a:xfrm>
          <a:prstGeom prst="rect">
            <a:avLst/>
          </a:prstGeom>
        </p:spPr>
        <p:txBody>
          <a:bodyPr anchor="t" rtlCol="false" tIns="0" lIns="0" bIns="0" rIns="0">
            <a:spAutoFit/>
          </a:bodyPr>
          <a:lstStyle/>
          <a:p>
            <a:pPr algn="l" marL="0" indent="0" lvl="0">
              <a:lnSpc>
                <a:spcPts val="2261"/>
              </a:lnSpc>
              <a:spcBef>
                <a:spcPct val="0"/>
              </a:spcBef>
            </a:pPr>
            <a:r>
              <a:rPr lang="en-US" sz="2174" strike="noStrike" u="none">
                <a:solidFill>
                  <a:srgbClr val="FCFCFC"/>
                </a:solidFill>
                <a:latin typeface="Poppins Light"/>
                <a:ea typeface="Poppins Light"/>
                <a:cs typeface="Poppins Light"/>
                <a:sym typeface="Poppins Light"/>
              </a:rPr>
              <a:t>Current constraints</a:t>
            </a:r>
          </a:p>
          <a:p>
            <a:pPr algn="l" marL="0" indent="0" lvl="0">
              <a:lnSpc>
                <a:spcPts val="2261"/>
              </a:lnSpc>
              <a:spcBef>
                <a:spcPct val="0"/>
              </a:spcBef>
            </a:pPr>
            <a:r>
              <a:rPr lang="en-US" sz="2174" strike="noStrike" u="none">
                <a:solidFill>
                  <a:srgbClr val="FCFCFC"/>
                </a:solidFill>
                <a:latin typeface="Poppins Light"/>
                <a:ea typeface="Poppins Light"/>
                <a:cs typeface="Poppins Light"/>
                <a:sym typeface="Poppins Light"/>
              </a:rPr>
              <a:t>• Website recall is </a:t>
            </a:r>
            <a:r>
              <a:rPr lang="en-US" b="true" sz="2174" strike="noStrike" u="none">
                <a:solidFill>
                  <a:srgbClr val="FCFCFC"/>
                </a:solidFill>
                <a:latin typeface="Poppins Bold"/>
                <a:ea typeface="Poppins Bold"/>
                <a:cs typeface="Poppins Bold"/>
                <a:sym typeface="Poppins Bold"/>
              </a:rPr>
              <a:t>33.98%</a:t>
            </a:r>
            <a:r>
              <a:rPr lang="en-US" sz="2174" strike="noStrike" u="none">
                <a:solidFill>
                  <a:srgbClr val="FCFCFC"/>
                </a:solidFill>
                <a:latin typeface="Poppins Light"/>
                <a:ea typeface="Poppins Light"/>
                <a:cs typeface="Poppins Light"/>
                <a:sym typeface="Poppins Light"/>
              </a:rPr>
              <a:t>, so URL-only detection is not sufficient by itself.</a:t>
            </a:r>
          </a:p>
          <a:p>
            <a:pPr algn="l" marL="0" indent="0" lvl="0">
              <a:lnSpc>
                <a:spcPts val="2261"/>
              </a:lnSpc>
              <a:spcBef>
                <a:spcPct val="0"/>
              </a:spcBef>
            </a:pPr>
            <a:r>
              <a:rPr lang="en-US" sz="2174" strike="noStrike" u="none">
                <a:solidFill>
                  <a:srgbClr val="FCFCFC"/>
                </a:solidFill>
                <a:latin typeface="Poppins Light"/>
                <a:ea typeface="Poppins Light"/>
                <a:cs typeface="Poppins Light"/>
                <a:sym typeface="Poppins Light"/>
              </a:rPr>
              <a:t>• UAT involved only three technically familiar participants.</a:t>
            </a:r>
          </a:p>
          <a:p>
            <a:pPr algn="l" marL="0" indent="0" lvl="0">
              <a:lnSpc>
                <a:spcPts val="2261"/>
              </a:lnSpc>
              <a:spcBef>
                <a:spcPct val="0"/>
              </a:spcBef>
            </a:pPr>
            <a:r>
              <a:rPr lang="en-US" sz="2174" strike="noStrike" u="none">
                <a:solidFill>
                  <a:srgbClr val="FCFCFC"/>
                </a:solidFill>
                <a:latin typeface="Poppins Light"/>
                <a:ea typeface="Poppins Light"/>
                <a:cs typeface="Poppins Light"/>
                <a:sym typeface="Poppins Light"/>
              </a:rPr>
              <a:t>• Automatic email extraction currently focuses on Gmail.</a:t>
            </a:r>
          </a:p>
        </p:txBody>
      </p:sp>
      <p:grpSp>
        <p:nvGrpSpPr>
          <p:cNvPr name="Group 12" id="12"/>
          <p:cNvGrpSpPr/>
          <p:nvPr/>
        </p:nvGrpSpPr>
        <p:grpSpPr>
          <a:xfrm rot="0">
            <a:off x="12968711" y="161481"/>
            <a:ext cx="2391678" cy="510325"/>
            <a:chOff x="0" y="0"/>
            <a:chExt cx="629907" cy="134407"/>
          </a:xfrm>
        </p:grpSpPr>
        <p:sp>
          <p:nvSpPr>
            <p:cNvPr name="Freeform 13" id="13"/>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4" id="14"/>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5" id="15"/>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grpSp>
        <p:nvGrpSpPr>
          <p:cNvPr name="Group 16" id="16"/>
          <p:cNvGrpSpPr/>
          <p:nvPr/>
        </p:nvGrpSpPr>
        <p:grpSpPr>
          <a:xfrm rot="0">
            <a:off x="1028700" y="1028700"/>
            <a:ext cx="2391678" cy="510325"/>
            <a:chOff x="0" y="0"/>
            <a:chExt cx="629907" cy="134407"/>
          </a:xfrm>
        </p:grpSpPr>
        <p:sp>
          <p:nvSpPr>
            <p:cNvPr name="Freeform 17" id="17"/>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8" id="18"/>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9" id="19"/>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sp>
        <p:nvSpPr>
          <p:cNvPr name="Freeform 2" id="2"/>
          <p:cNvSpPr/>
          <p:nvPr/>
        </p:nvSpPr>
        <p:spPr>
          <a:xfrm flipH="false" flipV="false" rot="0">
            <a:off x="4706562" y="1198497"/>
            <a:ext cx="10818151" cy="9088503"/>
          </a:xfrm>
          <a:custGeom>
            <a:avLst/>
            <a:gdLst/>
            <a:ahLst/>
            <a:cxnLst/>
            <a:rect r="r" b="b" t="t" l="l"/>
            <a:pathLst>
              <a:path h="9088503" w="10818151">
                <a:moveTo>
                  <a:pt x="0" y="0"/>
                </a:moveTo>
                <a:lnTo>
                  <a:pt x="10818152" y="0"/>
                </a:lnTo>
                <a:lnTo>
                  <a:pt x="10818152" y="9088503"/>
                </a:lnTo>
                <a:lnTo>
                  <a:pt x="0" y="9088503"/>
                </a:lnTo>
                <a:lnTo>
                  <a:pt x="0" y="0"/>
                </a:lnTo>
                <a:close/>
              </a:path>
            </a:pathLst>
          </a:custGeom>
          <a:blipFill>
            <a:blip r:embed="rId2"/>
            <a:stretch>
              <a:fillRect l="0" t="-19031" r="0" b="0"/>
            </a:stretch>
          </a:blipFill>
        </p:spPr>
      </p:sp>
      <p:grpSp>
        <p:nvGrpSpPr>
          <p:cNvPr name="Group 3" id="3"/>
          <p:cNvGrpSpPr/>
          <p:nvPr/>
        </p:nvGrpSpPr>
        <p:grpSpPr>
          <a:xfrm rot="0">
            <a:off x="1028700" y="3758701"/>
            <a:ext cx="8997471" cy="2974586"/>
            <a:chOff x="0" y="0"/>
            <a:chExt cx="1962951" cy="648956"/>
          </a:xfrm>
        </p:grpSpPr>
        <p:sp>
          <p:nvSpPr>
            <p:cNvPr name="Freeform 4" id="4"/>
            <p:cNvSpPr/>
            <p:nvPr/>
          </p:nvSpPr>
          <p:spPr>
            <a:xfrm flipH="false" flipV="false" rot="0">
              <a:off x="0" y="0"/>
              <a:ext cx="1962951" cy="648956"/>
            </a:xfrm>
            <a:custGeom>
              <a:avLst/>
              <a:gdLst/>
              <a:ahLst/>
              <a:cxnLst/>
              <a:rect r="r" b="b" t="t" l="l"/>
              <a:pathLst>
                <a:path h="648956" w="1962951">
                  <a:moveTo>
                    <a:pt x="14628" y="0"/>
                  </a:moveTo>
                  <a:lnTo>
                    <a:pt x="1948323" y="0"/>
                  </a:lnTo>
                  <a:cubicBezTo>
                    <a:pt x="1952203" y="0"/>
                    <a:pt x="1955923" y="1541"/>
                    <a:pt x="1958666" y="4284"/>
                  </a:cubicBezTo>
                  <a:cubicBezTo>
                    <a:pt x="1961410" y="7028"/>
                    <a:pt x="1962951" y="10748"/>
                    <a:pt x="1962951" y="14628"/>
                  </a:cubicBezTo>
                  <a:lnTo>
                    <a:pt x="1962951" y="634329"/>
                  </a:lnTo>
                  <a:cubicBezTo>
                    <a:pt x="1962951" y="642407"/>
                    <a:pt x="1956402" y="648956"/>
                    <a:pt x="1948323" y="648956"/>
                  </a:cubicBezTo>
                  <a:lnTo>
                    <a:pt x="14628" y="648956"/>
                  </a:lnTo>
                  <a:cubicBezTo>
                    <a:pt x="6549" y="648956"/>
                    <a:pt x="0" y="642407"/>
                    <a:pt x="0" y="634329"/>
                  </a:cubicBezTo>
                  <a:lnTo>
                    <a:pt x="0" y="14628"/>
                  </a:lnTo>
                  <a:cubicBezTo>
                    <a:pt x="0" y="10748"/>
                    <a:pt x="1541" y="7028"/>
                    <a:pt x="4284" y="4284"/>
                  </a:cubicBezTo>
                  <a:cubicBezTo>
                    <a:pt x="7028" y="1541"/>
                    <a:pt x="10748" y="0"/>
                    <a:pt x="14628" y="0"/>
                  </a:cubicBezTo>
                  <a:close/>
                </a:path>
              </a:pathLst>
            </a:custGeom>
            <a:solidFill>
              <a:srgbClr val="FCFCFC"/>
            </a:solidFill>
            <a:ln cap="sq">
              <a:noFill/>
              <a:prstDash val="solid"/>
              <a:miter/>
            </a:ln>
          </p:spPr>
        </p:sp>
        <p:sp>
          <p:nvSpPr>
            <p:cNvPr name="TextBox 5" id="5"/>
            <p:cNvSpPr txBox="true"/>
            <p:nvPr/>
          </p:nvSpPr>
          <p:spPr>
            <a:xfrm>
              <a:off x="0" y="19050"/>
              <a:ext cx="1962951" cy="629906"/>
            </a:xfrm>
            <a:prstGeom prst="rect">
              <a:avLst/>
            </a:prstGeom>
          </p:spPr>
          <p:txBody>
            <a:bodyPr anchor="ctr" rtlCol="false" tIns="50800" lIns="50800" bIns="50800" rIns="50800"/>
            <a:lstStyle/>
            <a:p>
              <a:pPr algn="ctr" marL="0" indent="0" lvl="0">
                <a:lnSpc>
                  <a:spcPts val="1543"/>
                </a:lnSpc>
              </a:pPr>
            </a:p>
          </p:txBody>
        </p:sp>
      </p:grpSp>
      <p:grpSp>
        <p:nvGrpSpPr>
          <p:cNvPr name="Group 6" id="6"/>
          <p:cNvGrpSpPr/>
          <p:nvPr/>
        </p:nvGrpSpPr>
        <p:grpSpPr>
          <a:xfrm rot="0">
            <a:off x="1028700" y="1028700"/>
            <a:ext cx="2391678" cy="510325"/>
            <a:chOff x="0" y="0"/>
            <a:chExt cx="629907" cy="134407"/>
          </a:xfrm>
        </p:grpSpPr>
        <p:sp>
          <p:nvSpPr>
            <p:cNvPr name="Freeform 7" id="7"/>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8" id="8"/>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Freeform 9" id="9"/>
          <p:cNvSpPr/>
          <p:nvPr/>
        </p:nvSpPr>
        <p:spPr>
          <a:xfrm flipH="false" flipV="false" rot="0">
            <a:off x="17657728" y="8762957"/>
            <a:ext cx="1745231" cy="955117"/>
          </a:xfrm>
          <a:custGeom>
            <a:avLst/>
            <a:gdLst/>
            <a:ahLst/>
            <a:cxnLst/>
            <a:rect r="r" b="b" t="t" l="l"/>
            <a:pathLst>
              <a:path h="955117" w="1745231">
                <a:moveTo>
                  <a:pt x="0" y="0"/>
                </a:moveTo>
                <a:lnTo>
                  <a:pt x="1745230" y="0"/>
                </a:lnTo>
                <a:lnTo>
                  <a:pt x="1745230" y="955118"/>
                </a:lnTo>
                <a:lnTo>
                  <a:pt x="0" y="9551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7938288" y="1028700"/>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260958" y="5885714"/>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sp>
        <p:nvSpPr>
          <p:cNvPr name="TextBox 13" id="13"/>
          <p:cNvSpPr txBox="true"/>
          <p:nvPr/>
        </p:nvSpPr>
        <p:spPr>
          <a:xfrm rot="0">
            <a:off x="1344378" y="4124746"/>
            <a:ext cx="8441123" cy="2460353"/>
          </a:xfrm>
          <a:prstGeom prst="rect">
            <a:avLst/>
          </a:prstGeom>
        </p:spPr>
        <p:txBody>
          <a:bodyPr anchor="t" rtlCol="false" tIns="0" lIns="0" bIns="0" rIns="0">
            <a:spAutoFit/>
          </a:bodyPr>
          <a:lstStyle/>
          <a:p>
            <a:pPr algn="l" marL="438332" indent="-219166" lvl="1">
              <a:lnSpc>
                <a:spcPts val="2131"/>
              </a:lnSpc>
              <a:spcBef>
                <a:spcPct val="0"/>
              </a:spcBef>
              <a:buAutoNum type="arabicPeriod" startAt="1"/>
            </a:pPr>
            <a:r>
              <a:rPr lang="en-US" sz="2030" strike="noStrike" u="none">
                <a:solidFill>
                  <a:srgbClr val="1F191A"/>
                </a:solidFill>
                <a:latin typeface="Poppins Light"/>
                <a:ea typeface="Poppins Light"/>
                <a:cs typeface="Poppins Light"/>
                <a:sym typeface="Poppins Light"/>
              </a:rPr>
              <a:t>Sign in with MFA using dedicated test credentials.</a:t>
            </a:r>
          </a:p>
          <a:p>
            <a:pPr algn="l" marL="438332" indent="-219166" lvl="1">
              <a:lnSpc>
                <a:spcPts val="2131"/>
              </a:lnSpc>
              <a:spcBef>
                <a:spcPct val="0"/>
              </a:spcBef>
              <a:buAutoNum type="arabicPeriod" startAt="1"/>
            </a:pPr>
            <a:r>
              <a:rPr lang="en-US" sz="2030" strike="noStrike" u="none">
                <a:solidFill>
                  <a:srgbClr val="1F191A"/>
                </a:solidFill>
                <a:latin typeface="Poppins Light"/>
                <a:ea typeface="Poppins Light"/>
                <a:cs typeface="Poppins Light"/>
                <a:sym typeface="Poppins Light"/>
              </a:rPr>
              <a:t>Scan a normal website, then a controlled suspicious fixture.</a:t>
            </a:r>
          </a:p>
          <a:p>
            <a:pPr algn="l" marL="438332" indent="-219166" lvl="1">
              <a:lnSpc>
                <a:spcPts val="2131"/>
              </a:lnSpc>
              <a:spcBef>
                <a:spcPct val="0"/>
              </a:spcBef>
              <a:buAutoNum type="arabicPeriod" startAt="1"/>
            </a:pPr>
            <a:r>
              <a:rPr lang="en-US" sz="2030" strike="noStrike" u="none">
                <a:solidFill>
                  <a:srgbClr val="1F191A"/>
                </a:solidFill>
                <a:latin typeface="Poppins Light"/>
                <a:ea typeface="Poppins Light"/>
                <a:cs typeface="Poppins Light"/>
                <a:sym typeface="Poppins Light"/>
              </a:rPr>
              <a:t>Open a sanitised Gmail test message and review the risk explanation.</a:t>
            </a:r>
          </a:p>
          <a:p>
            <a:pPr algn="l" marL="438332" indent="-219166" lvl="1">
              <a:lnSpc>
                <a:spcPts val="2131"/>
              </a:lnSpc>
              <a:spcBef>
                <a:spcPct val="0"/>
              </a:spcBef>
              <a:buAutoNum type="arabicPeriod" startAt="1"/>
            </a:pPr>
            <a:r>
              <a:rPr lang="en-US" sz="2030" strike="noStrike" u="none">
                <a:solidFill>
                  <a:srgbClr val="1F191A"/>
                </a:solidFill>
                <a:latin typeface="Poppins Light"/>
                <a:ea typeface="Poppins Light"/>
                <a:cs typeface="Poppins Light"/>
                <a:sym typeface="Poppins Light"/>
              </a:rPr>
              <a:t>Open the dashboard and generate a PDF report.</a:t>
            </a:r>
          </a:p>
          <a:p>
            <a:pPr algn="l" marL="438332" indent="-219166" lvl="1">
              <a:lnSpc>
                <a:spcPts val="2131"/>
              </a:lnSpc>
              <a:spcBef>
                <a:spcPct val="0"/>
              </a:spcBef>
              <a:buAutoNum type="arabicPeriod" startAt="1"/>
            </a:pPr>
            <a:r>
              <a:rPr lang="en-US" sz="2030" strike="noStrike" u="none">
                <a:solidFill>
                  <a:srgbClr val="1F191A"/>
                </a:solidFill>
                <a:latin typeface="Poppins Light"/>
                <a:ea typeface="Poppins Light"/>
                <a:cs typeface="Poppins Light"/>
                <a:sym typeface="Poppins Light"/>
              </a:rPr>
              <a:t>Demonstrate vault locking and authenticated logout.</a:t>
            </a:r>
          </a:p>
          <a:p>
            <a:pPr algn="l">
              <a:lnSpc>
                <a:spcPts val="2131"/>
              </a:lnSpc>
              <a:spcBef>
                <a:spcPct val="0"/>
              </a:spcBef>
            </a:pPr>
          </a:p>
          <a:p>
            <a:pPr algn="l">
              <a:lnSpc>
                <a:spcPts val="2131"/>
              </a:lnSpc>
              <a:spcBef>
                <a:spcPct val="0"/>
              </a:spcBef>
            </a:pPr>
            <a:r>
              <a:rPr lang="en-US" sz="2030" strike="noStrike" u="none">
                <a:solidFill>
                  <a:srgbClr val="1F191A"/>
                </a:solidFill>
                <a:latin typeface="Poppins Light"/>
                <a:ea typeface="Poppins Light"/>
                <a:cs typeface="Poppins Light"/>
                <a:sym typeface="Poppins Light"/>
              </a:rPr>
              <a:t>Use sanitised fixtures only. Never open live malicious infrastructure or expose real credentials during the presentation.</a:t>
            </a:r>
          </a:p>
        </p:txBody>
      </p:sp>
      <p:sp>
        <p:nvSpPr>
          <p:cNvPr name="TextBox 14" id="14"/>
          <p:cNvSpPr txBox="true"/>
          <p:nvPr/>
        </p:nvSpPr>
        <p:spPr>
          <a:xfrm rot="0">
            <a:off x="1344378" y="1184425"/>
            <a:ext cx="1760322" cy="217892"/>
          </a:xfrm>
          <a:prstGeom prst="rect">
            <a:avLst/>
          </a:prstGeom>
        </p:spPr>
        <p:txBody>
          <a:bodyPr anchor="t" rtlCol="false" tIns="0" lIns="0" bIns="0" rIns="0">
            <a:spAutoFit/>
          </a:bodyPr>
          <a:lstStyle/>
          <a:p>
            <a:pPr algn="ctr" marL="0" indent="0" lvl="0">
              <a:lnSpc>
                <a:spcPts val="1542"/>
              </a:lnSpc>
            </a:pPr>
            <a:r>
              <a:rPr lang="en-US" sz="1589" spc="-31">
                <a:solidFill>
                  <a:srgbClr val="FCFCFC"/>
                </a:solidFill>
                <a:latin typeface="Poppins"/>
                <a:ea typeface="Poppins"/>
                <a:cs typeface="Poppins"/>
                <a:sym typeface="Poppins"/>
              </a:rPr>
              <a:t>PhishGuard</a:t>
            </a:r>
          </a:p>
        </p:txBody>
      </p:sp>
      <p:grpSp>
        <p:nvGrpSpPr>
          <p:cNvPr name="Group 15" id="15"/>
          <p:cNvGrpSpPr/>
          <p:nvPr/>
        </p:nvGrpSpPr>
        <p:grpSpPr>
          <a:xfrm rot="0">
            <a:off x="12968711" y="161481"/>
            <a:ext cx="2391678" cy="510325"/>
            <a:chOff x="0" y="0"/>
            <a:chExt cx="629907" cy="134407"/>
          </a:xfrm>
        </p:grpSpPr>
        <p:sp>
          <p:nvSpPr>
            <p:cNvPr name="Freeform 16" id="16"/>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7" id="17"/>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8" id="18"/>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391678" cy="510325"/>
            <a:chOff x="0" y="0"/>
            <a:chExt cx="629907" cy="134407"/>
          </a:xfrm>
        </p:grpSpPr>
        <p:sp>
          <p:nvSpPr>
            <p:cNvPr name="Freeform 3" id="3"/>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4" id="4"/>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Freeform 5" id="5"/>
          <p:cNvSpPr/>
          <p:nvPr/>
        </p:nvSpPr>
        <p:spPr>
          <a:xfrm flipH="false" flipV="false" rot="0">
            <a:off x="7969847" y="-31153"/>
            <a:ext cx="10318153" cy="10318153"/>
          </a:xfrm>
          <a:custGeom>
            <a:avLst/>
            <a:gdLst/>
            <a:ahLst/>
            <a:cxnLst/>
            <a:rect r="r" b="b" t="t" l="l"/>
            <a:pathLst>
              <a:path h="10318153" w="10318153">
                <a:moveTo>
                  <a:pt x="0" y="0"/>
                </a:moveTo>
                <a:lnTo>
                  <a:pt x="10318153" y="0"/>
                </a:lnTo>
                <a:lnTo>
                  <a:pt x="10318153" y="10318153"/>
                </a:lnTo>
                <a:lnTo>
                  <a:pt x="0" y="10318153"/>
                </a:lnTo>
                <a:lnTo>
                  <a:pt x="0" y="0"/>
                </a:lnTo>
                <a:close/>
              </a:path>
            </a:pathLst>
          </a:custGeom>
          <a:blipFill>
            <a:blip r:embed="rId2"/>
            <a:stretch>
              <a:fillRect l="0" t="0" r="0" b="0"/>
            </a:stretch>
          </a:blipFill>
        </p:spPr>
      </p:sp>
      <p:sp>
        <p:nvSpPr>
          <p:cNvPr name="Freeform 6" id="6"/>
          <p:cNvSpPr/>
          <p:nvPr/>
        </p:nvSpPr>
        <p:spPr>
          <a:xfrm flipH="false" flipV="false" rot="0">
            <a:off x="17566772" y="606496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356034" y="58390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sp>
        <p:nvSpPr>
          <p:cNvPr name="TextBox 10" id="10"/>
          <p:cNvSpPr txBox="true"/>
          <p:nvPr/>
        </p:nvSpPr>
        <p:spPr>
          <a:xfrm rot="0">
            <a:off x="158041" y="5940518"/>
            <a:ext cx="7611336" cy="3555780"/>
          </a:xfrm>
          <a:prstGeom prst="rect">
            <a:avLst/>
          </a:prstGeom>
        </p:spPr>
        <p:txBody>
          <a:bodyPr anchor="t" rtlCol="false" tIns="0" lIns="0" bIns="0" rIns="0">
            <a:spAutoFit/>
          </a:bodyPr>
          <a:lstStyle/>
          <a:p>
            <a:pPr algn="l" marL="0" indent="0" lvl="0">
              <a:lnSpc>
                <a:spcPts val="2389"/>
              </a:lnSpc>
              <a:spcBef>
                <a:spcPct val="0"/>
              </a:spcBef>
            </a:pPr>
            <a:r>
              <a:rPr lang="en-US" sz="2297" strike="noStrike" u="none">
                <a:solidFill>
                  <a:srgbClr val="343434"/>
                </a:solidFill>
                <a:latin typeface="Poppins Light"/>
                <a:ea typeface="Poppins Light"/>
                <a:cs typeface="Poppins Light"/>
                <a:sym typeface="Poppins Light"/>
              </a:rPr>
              <a:t>PhishGuard combines website and Gmail phishing detection in one Chrome extension. The website Random Forest achieved 83.15% accuracy with a 2.59% false-positive rate, while the calibrated LinearSVC email model achieved 97.18% accuracy and 96.02% F1. The system also provides explainable risk evidence, reversible trust controls, MFA, authenticated PDF reporting, and a client-side encrypted password vault. UAT completed 48/48 tasks with a mean usability rating of 4.86/5. Limited website recall and the small UAT sample remain the main areas for future improvement.</a:t>
            </a:r>
          </a:p>
        </p:txBody>
      </p:sp>
      <p:sp>
        <p:nvSpPr>
          <p:cNvPr name="TextBox 11" id="11"/>
          <p:cNvSpPr txBox="true"/>
          <p:nvPr/>
        </p:nvSpPr>
        <p:spPr>
          <a:xfrm rot="0">
            <a:off x="1023845" y="2601826"/>
            <a:ext cx="6383692" cy="2321654"/>
          </a:xfrm>
          <a:prstGeom prst="rect">
            <a:avLst/>
          </a:prstGeom>
        </p:spPr>
        <p:txBody>
          <a:bodyPr anchor="t" rtlCol="false" tIns="0" lIns="0" bIns="0" rIns="0">
            <a:spAutoFit/>
          </a:bodyPr>
          <a:lstStyle/>
          <a:p>
            <a:pPr algn="l" marL="0" indent="0" lvl="0">
              <a:lnSpc>
                <a:spcPts val="3064"/>
              </a:lnSpc>
              <a:spcBef>
                <a:spcPct val="0"/>
              </a:spcBef>
            </a:pPr>
            <a:r>
              <a:rPr lang="en-US" b="true" sz="2974" strike="noStrike" u="none">
                <a:solidFill>
                  <a:srgbClr val="1F191A"/>
                </a:solidFill>
                <a:latin typeface="Poppins Bold"/>
                <a:ea typeface="Poppins Bold"/>
                <a:cs typeface="Poppins Bold"/>
                <a:sym typeface="Poppins Bold"/>
              </a:rPr>
              <a:t>Key contribution</a:t>
            </a:r>
            <a:r>
              <a:rPr lang="en-US" sz="2974" strike="noStrike" u="none">
                <a:solidFill>
                  <a:srgbClr val="1F191A"/>
                </a:solidFill>
                <a:latin typeface="Poppins Light"/>
                <a:ea typeface="Poppins Light"/>
                <a:cs typeface="Poppins Light"/>
                <a:sym typeface="Poppins Light"/>
              </a:rPr>
              <a:t>: browser-side protection that combines supervised learning, contextual evidence, clear warnings, and user-controlled trust without hiding the original model result.</a:t>
            </a:r>
          </a:p>
        </p:txBody>
      </p:sp>
      <p:sp>
        <p:nvSpPr>
          <p:cNvPr name="TextBox 12" id="12"/>
          <p:cNvSpPr txBox="true"/>
          <p:nvPr/>
        </p:nvSpPr>
        <p:spPr>
          <a:xfrm rot="0">
            <a:off x="1344378" y="1184425"/>
            <a:ext cx="1760322" cy="158954"/>
          </a:xfrm>
          <a:prstGeom prst="rect">
            <a:avLst/>
          </a:prstGeom>
        </p:spPr>
        <p:txBody>
          <a:bodyPr anchor="t" rtlCol="false" tIns="0" lIns="0" bIns="0" rIns="0">
            <a:spAutoFit/>
          </a:bodyPr>
          <a:lstStyle/>
          <a:p>
            <a:pPr algn="ctr" marL="0" indent="0" lvl="0">
              <a:lnSpc>
                <a:spcPts val="1166"/>
              </a:lnSpc>
            </a:pPr>
            <a:r>
              <a:rPr lang="en-US" sz="1202" spc="-24">
                <a:solidFill>
                  <a:srgbClr val="FCFCFC"/>
                </a:solidFill>
                <a:latin typeface="Poppins"/>
                <a:ea typeface="Poppins"/>
                <a:cs typeface="Poppins"/>
                <a:sym typeface="Poppins"/>
              </a:rPr>
              <a:t>PhishGuard </a:t>
            </a:r>
          </a:p>
        </p:txBody>
      </p:sp>
      <p:grpSp>
        <p:nvGrpSpPr>
          <p:cNvPr name="Group 13" id="13"/>
          <p:cNvGrpSpPr/>
          <p:nvPr/>
        </p:nvGrpSpPr>
        <p:grpSpPr>
          <a:xfrm rot="0">
            <a:off x="12968711" y="161481"/>
            <a:ext cx="2391678" cy="510325"/>
            <a:chOff x="0" y="0"/>
            <a:chExt cx="629907" cy="134407"/>
          </a:xfrm>
        </p:grpSpPr>
        <p:sp>
          <p:nvSpPr>
            <p:cNvPr name="Freeform 14" id="14"/>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5" id="15"/>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6" id="16"/>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8B6FF"/>
        </a:solidFill>
      </p:bgPr>
    </p:bg>
    <p:spTree>
      <p:nvGrpSpPr>
        <p:cNvPr id="1" name=""/>
        <p:cNvGrpSpPr/>
        <p:nvPr/>
      </p:nvGrpSpPr>
      <p:grpSpPr>
        <a:xfrm>
          <a:off x="0" y="0"/>
          <a:ext cx="0" cy="0"/>
          <a:chOff x="0" y="0"/>
          <a:chExt cx="0" cy="0"/>
        </a:xfrm>
      </p:grpSpPr>
      <p:sp>
        <p:nvSpPr>
          <p:cNvPr name="TextBox 2" id="2"/>
          <p:cNvSpPr txBox="true"/>
          <p:nvPr/>
        </p:nvSpPr>
        <p:spPr>
          <a:xfrm rot="0">
            <a:off x="9346897" y="6496590"/>
            <a:ext cx="7583662" cy="1402842"/>
          </a:xfrm>
          <a:prstGeom prst="rect">
            <a:avLst/>
          </a:prstGeom>
        </p:spPr>
        <p:txBody>
          <a:bodyPr anchor="t" rtlCol="false" tIns="0" lIns="0" bIns="0" rIns="0">
            <a:spAutoFit/>
          </a:bodyPr>
          <a:lstStyle/>
          <a:p>
            <a:pPr algn="l" marL="0" indent="0" lvl="0">
              <a:lnSpc>
                <a:spcPts val="2243"/>
              </a:lnSpc>
            </a:pPr>
            <a:r>
              <a:rPr lang="en-US" sz="1699">
                <a:solidFill>
                  <a:srgbClr val="000000"/>
                </a:solidFill>
                <a:latin typeface="Poppins Light"/>
                <a:ea typeface="Poppins Light"/>
                <a:cs typeface="Poppins Light"/>
                <a:sym typeface="Poppins Light"/>
              </a:rPr>
              <a:t>Hemanthrajah A/L N Krishnarajah</a:t>
            </a:r>
          </a:p>
          <a:p>
            <a:pPr algn="l" marL="0" indent="0" lvl="0">
              <a:lnSpc>
                <a:spcPts val="2243"/>
              </a:lnSpc>
            </a:pPr>
            <a:r>
              <a:rPr lang="en-US" sz="1699">
                <a:solidFill>
                  <a:srgbClr val="000000"/>
                </a:solidFill>
                <a:latin typeface="Poppins Light"/>
                <a:ea typeface="Poppins Light"/>
                <a:cs typeface="Poppins Light"/>
                <a:sym typeface="Poppins Light"/>
              </a:rPr>
              <a:t>TP070844</a:t>
            </a:r>
          </a:p>
          <a:p>
            <a:pPr algn="l" marL="0" indent="0" lvl="0">
              <a:lnSpc>
                <a:spcPts val="2243"/>
              </a:lnSpc>
            </a:pPr>
            <a:r>
              <a:rPr lang="en-US" sz="1699">
                <a:solidFill>
                  <a:srgbClr val="000000"/>
                </a:solidFill>
                <a:latin typeface="Poppins Light"/>
                <a:ea typeface="Poppins Light"/>
                <a:cs typeface="Poppins Light"/>
                <a:sym typeface="Poppins Light"/>
              </a:rPr>
              <a:t>B.Sc. (Hons) Computer Science</a:t>
            </a:r>
          </a:p>
          <a:p>
            <a:pPr algn="l" marL="0" indent="0" lvl="0">
              <a:lnSpc>
                <a:spcPts val="2243"/>
              </a:lnSpc>
            </a:pPr>
            <a:r>
              <a:rPr lang="en-US" sz="1699">
                <a:solidFill>
                  <a:srgbClr val="000000"/>
                </a:solidFill>
                <a:latin typeface="Poppins Light"/>
                <a:ea typeface="Poppins Light"/>
                <a:cs typeface="Poppins Light"/>
                <a:sym typeface="Poppins Light"/>
              </a:rPr>
              <a:t>Specialism in Cyber Security</a:t>
            </a:r>
          </a:p>
          <a:p>
            <a:pPr algn="l" marL="0" indent="0" lvl="0">
              <a:lnSpc>
                <a:spcPts val="2243"/>
              </a:lnSpc>
            </a:pPr>
            <a:r>
              <a:rPr lang="en-US" sz="1699">
                <a:solidFill>
                  <a:srgbClr val="000000"/>
                </a:solidFill>
                <a:latin typeface="Poppins Light"/>
                <a:ea typeface="Poppins Light"/>
                <a:cs typeface="Poppins Light"/>
                <a:sym typeface="Poppins Light"/>
              </a:rPr>
              <a:t>Asia Pacific University of Technology and Innovation</a:t>
            </a:r>
          </a:p>
        </p:txBody>
      </p:sp>
      <p:sp>
        <p:nvSpPr>
          <p:cNvPr name="TextBox 3" id="3"/>
          <p:cNvSpPr txBox="true"/>
          <p:nvPr/>
        </p:nvSpPr>
        <p:spPr>
          <a:xfrm rot="0">
            <a:off x="9346897" y="9028314"/>
            <a:ext cx="1760322" cy="192614"/>
          </a:xfrm>
          <a:prstGeom prst="rect">
            <a:avLst/>
          </a:prstGeom>
        </p:spPr>
        <p:txBody>
          <a:bodyPr anchor="t" rtlCol="false" tIns="0" lIns="0" bIns="0" rIns="0">
            <a:spAutoFit/>
          </a:bodyPr>
          <a:lstStyle/>
          <a:p>
            <a:pPr algn="l" marL="0" indent="0" lvl="0">
              <a:lnSpc>
                <a:spcPts val="1307"/>
              </a:lnSpc>
            </a:pPr>
            <a:r>
              <a:rPr lang="en-US" sz="1348">
                <a:solidFill>
                  <a:srgbClr val="FCFCFC"/>
                </a:solidFill>
                <a:latin typeface="Poppins"/>
                <a:ea typeface="Poppins"/>
                <a:cs typeface="Poppins"/>
                <a:sym typeface="Poppins"/>
              </a:rPr>
              <a:t>PhishGuard — FYP</a:t>
            </a:r>
          </a:p>
        </p:txBody>
      </p:sp>
      <p:sp>
        <p:nvSpPr>
          <p:cNvPr name="TextBox 4" id="4"/>
          <p:cNvSpPr txBox="true"/>
          <p:nvPr/>
        </p:nvSpPr>
        <p:spPr>
          <a:xfrm rot="0">
            <a:off x="15167288" y="9028314"/>
            <a:ext cx="1760322" cy="191783"/>
          </a:xfrm>
          <a:prstGeom prst="rect">
            <a:avLst/>
          </a:prstGeom>
        </p:spPr>
        <p:txBody>
          <a:bodyPr anchor="t" rtlCol="false" tIns="0" lIns="0" bIns="0" rIns="0">
            <a:spAutoFit/>
          </a:bodyPr>
          <a:lstStyle/>
          <a:p>
            <a:pPr algn="l" marL="0" indent="0" lvl="0">
              <a:lnSpc>
                <a:spcPts val="1307"/>
              </a:lnSpc>
            </a:pPr>
            <a:r>
              <a:rPr lang="en-US" sz="1348" spc="-26">
                <a:solidFill>
                  <a:srgbClr val="FCFCFC"/>
                </a:solidFill>
                <a:latin typeface="Poppins"/>
                <a:ea typeface="Poppins"/>
                <a:cs typeface="Poppins"/>
                <a:sym typeface="Poppins"/>
              </a:rPr>
              <a:t>APU | 2026</a:t>
            </a:r>
          </a:p>
        </p:txBody>
      </p:sp>
      <p:sp>
        <p:nvSpPr>
          <p:cNvPr name="TextBox 5" id="5"/>
          <p:cNvSpPr txBox="true"/>
          <p:nvPr/>
        </p:nvSpPr>
        <p:spPr>
          <a:xfrm rot="0">
            <a:off x="9346897" y="3882232"/>
            <a:ext cx="8265363" cy="2402297"/>
          </a:xfrm>
          <a:prstGeom prst="rect">
            <a:avLst/>
          </a:prstGeom>
        </p:spPr>
        <p:txBody>
          <a:bodyPr anchor="t" rtlCol="false" tIns="0" lIns="0" bIns="0" rIns="0">
            <a:spAutoFit/>
          </a:bodyPr>
          <a:lstStyle/>
          <a:p>
            <a:pPr algn="l" marL="0" indent="0" lvl="0">
              <a:lnSpc>
                <a:spcPts val="8839"/>
              </a:lnSpc>
            </a:pPr>
            <a:r>
              <a:rPr lang="en-US" b="true" sz="9504" spc="-95">
                <a:solidFill>
                  <a:srgbClr val="FCFCFC"/>
                </a:solidFill>
                <a:latin typeface="Poppins Bold"/>
                <a:ea typeface="Poppins Bold"/>
                <a:cs typeface="Poppins Bold"/>
                <a:sym typeface="Poppins Bold"/>
              </a:rPr>
              <a:t>THANK YOU</a:t>
            </a:r>
          </a:p>
          <a:p>
            <a:pPr algn="l" marL="0" indent="0" lvl="0">
              <a:lnSpc>
                <a:spcPts val="8839"/>
              </a:lnSpc>
            </a:pPr>
            <a:r>
              <a:rPr lang="en-US" b="true" sz="9504" spc="-95">
                <a:solidFill>
                  <a:srgbClr val="FCFCFC"/>
                </a:solidFill>
                <a:latin typeface="Poppins Bold"/>
                <a:ea typeface="Poppins Bold"/>
                <a:cs typeface="Poppins Bold"/>
                <a:sym typeface="Poppins Bold"/>
              </a:rPr>
              <a:t>• QUESTIONS?</a:t>
            </a:r>
          </a:p>
        </p:txBody>
      </p:sp>
      <p:sp>
        <p:nvSpPr>
          <p:cNvPr name="Freeform 6" id="6"/>
          <p:cNvSpPr/>
          <p:nvPr/>
        </p:nvSpPr>
        <p:spPr>
          <a:xfrm flipH="false" flipV="false" rot="0">
            <a:off x="1029412" y="2218840"/>
            <a:ext cx="7048362" cy="7964251"/>
          </a:xfrm>
          <a:custGeom>
            <a:avLst/>
            <a:gdLst/>
            <a:ahLst/>
            <a:cxnLst/>
            <a:rect r="r" b="b" t="t" l="l"/>
            <a:pathLst>
              <a:path h="7964251" w="7048362">
                <a:moveTo>
                  <a:pt x="0" y="0"/>
                </a:moveTo>
                <a:lnTo>
                  <a:pt x="7048362" y="0"/>
                </a:lnTo>
                <a:lnTo>
                  <a:pt x="7048362" y="7964251"/>
                </a:lnTo>
                <a:lnTo>
                  <a:pt x="0" y="7964251"/>
                </a:lnTo>
                <a:lnTo>
                  <a:pt x="0" y="0"/>
                </a:lnTo>
                <a:close/>
              </a:path>
            </a:pathLst>
          </a:custGeom>
          <a:blipFill>
            <a:blip r:embed="rId2"/>
            <a:stretch>
              <a:fillRect l="0" t="0" r="0" b="0"/>
            </a:stretch>
          </a:blipFill>
        </p:spPr>
      </p:sp>
      <p:grpSp>
        <p:nvGrpSpPr>
          <p:cNvPr name="Group 7" id="7"/>
          <p:cNvGrpSpPr/>
          <p:nvPr/>
        </p:nvGrpSpPr>
        <p:grpSpPr>
          <a:xfrm rot="0">
            <a:off x="1028700" y="1028700"/>
            <a:ext cx="2391678" cy="510325"/>
            <a:chOff x="0" y="0"/>
            <a:chExt cx="629907" cy="134407"/>
          </a:xfrm>
        </p:grpSpPr>
        <p:sp>
          <p:nvSpPr>
            <p:cNvPr name="Freeform 8" id="8"/>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9" id="9"/>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0" id="10"/>
          <p:cNvSpPr txBox="true"/>
          <p:nvPr/>
        </p:nvSpPr>
        <p:spPr>
          <a:xfrm rot="0">
            <a:off x="1344378" y="1174900"/>
            <a:ext cx="1760322" cy="191783"/>
          </a:xfrm>
          <a:prstGeom prst="rect">
            <a:avLst/>
          </a:prstGeom>
        </p:spPr>
        <p:txBody>
          <a:bodyPr anchor="t" rtlCol="false" tIns="0" lIns="0" bIns="0" rIns="0">
            <a:spAutoFit/>
          </a:bodyPr>
          <a:lstStyle/>
          <a:p>
            <a:pPr algn="ctr" marL="0" indent="0" lvl="0">
              <a:lnSpc>
                <a:spcPts val="1307"/>
              </a:lnSpc>
            </a:pPr>
            <a:r>
              <a:rPr lang="en-US" sz="1348" spc="-26">
                <a:solidFill>
                  <a:srgbClr val="FCFCFC"/>
                </a:solidFill>
                <a:latin typeface="Poppins"/>
                <a:ea typeface="Poppins"/>
                <a:cs typeface="Poppins"/>
                <a:sym typeface="Poppins"/>
              </a:rPr>
              <a:t>PhishGuard</a:t>
            </a:r>
          </a:p>
        </p:txBody>
      </p:sp>
      <p:sp>
        <p:nvSpPr>
          <p:cNvPr name="Freeform 11" id="11"/>
          <p:cNvSpPr/>
          <p:nvPr/>
        </p:nvSpPr>
        <p:spPr>
          <a:xfrm flipH="false" flipV="false" rot="0">
            <a:off x="17566772" y="606496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5356034" y="583908"/>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283697" y="4553931"/>
            <a:ext cx="1745231" cy="955117"/>
          </a:xfrm>
          <a:custGeom>
            <a:avLst/>
            <a:gdLst/>
            <a:ahLst/>
            <a:cxnLst/>
            <a:rect r="r" b="b" t="t" l="l"/>
            <a:pathLst>
              <a:path h="955117" w="1745231">
                <a:moveTo>
                  <a:pt x="0" y="0"/>
                </a:moveTo>
                <a:lnTo>
                  <a:pt x="1745231" y="0"/>
                </a:lnTo>
                <a:lnTo>
                  <a:pt x="1745231" y="955117"/>
                </a:lnTo>
                <a:lnTo>
                  <a:pt x="0" y="955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5891005" y="0"/>
            <a:ext cx="2396995" cy="2396995"/>
          </a:xfrm>
          <a:custGeom>
            <a:avLst/>
            <a:gdLst/>
            <a:ahLst/>
            <a:cxnLst/>
            <a:rect r="r" b="b" t="t" l="l"/>
            <a:pathLst>
              <a:path h="2396995" w="2396995">
                <a:moveTo>
                  <a:pt x="0" y="0"/>
                </a:moveTo>
                <a:lnTo>
                  <a:pt x="2396995" y="0"/>
                </a:lnTo>
                <a:lnTo>
                  <a:pt x="2396995" y="2396995"/>
                </a:lnTo>
                <a:lnTo>
                  <a:pt x="0" y="2396995"/>
                </a:lnTo>
                <a:lnTo>
                  <a:pt x="0" y="0"/>
                </a:lnTo>
                <a:close/>
              </a:path>
            </a:pathLst>
          </a:custGeom>
          <a:blipFill>
            <a:blip r:embed="rId5"/>
            <a:stretch>
              <a:fillRect l="0" t="0" r="0" b="0"/>
            </a:stretch>
          </a:blipFill>
        </p:spPr>
      </p:sp>
      <p:grpSp>
        <p:nvGrpSpPr>
          <p:cNvPr name="Group 15" id="15"/>
          <p:cNvGrpSpPr/>
          <p:nvPr/>
        </p:nvGrpSpPr>
        <p:grpSpPr>
          <a:xfrm rot="0">
            <a:off x="12968711" y="161481"/>
            <a:ext cx="2391678" cy="510325"/>
            <a:chOff x="0" y="0"/>
            <a:chExt cx="629907" cy="134407"/>
          </a:xfrm>
        </p:grpSpPr>
        <p:sp>
          <p:nvSpPr>
            <p:cNvPr name="Freeform 16" id="16"/>
            <p:cNvSpPr/>
            <p:nvPr/>
          </p:nvSpPr>
          <p:spPr>
            <a:xfrm flipH="false" flipV="false" rot="0">
              <a:off x="0" y="0"/>
              <a:ext cx="629907" cy="134407"/>
            </a:xfrm>
            <a:custGeom>
              <a:avLst/>
              <a:gdLst/>
              <a:ahLst/>
              <a:cxnLst/>
              <a:rect r="r" b="b" t="t" l="l"/>
              <a:pathLst>
                <a:path h="134407" w="629907">
                  <a:moveTo>
                    <a:pt x="67203" y="0"/>
                  </a:moveTo>
                  <a:lnTo>
                    <a:pt x="562704" y="0"/>
                  </a:lnTo>
                  <a:cubicBezTo>
                    <a:pt x="580527" y="0"/>
                    <a:pt x="597620" y="7080"/>
                    <a:pt x="610224" y="19683"/>
                  </a:cubicBezTo>
                  <a:cubicBezTo>
                    <a:pt x="622827" y="32286"/>
                    <a:pt x="629907" y="49380"/>
                    <a:pt x="629907" y="67203"/>
                  </a:cubicBezTo>
                  <a:lnTo>
                    <a:pt x="629907" y="67203"/>
                  </a:lnTo>
                  <a:cubicBezTo>
                    <a:pt x="629907" y="104319"/>
                    <a:pt x="599819" y="134407"/>
                    <a:pt x="562704" y="134407"/>
                  </a:cubicBezTo>
                  <a:lnTo>
                    <a:pt x="67203" y="134407"/>
                  </a:lnTo>
                  <a:cubicBezTo>
                    <a:pt x="30088" y="134407"/>
                    <a:pt x="0" y="104319"/>
                    <a:pt x="0" y="67203"/>
                  </a:cubicBezTo>
                  <a:lnTo>
                    <a:pt x="0" y="67203"/>
                  </a:lnTo>
                  <a:cubicBezTo>
                    <a:pt x="0" y="30088"/>
                    <a:pt x="30088" y="0"/>
                    <a:pt x="67203" y="0"/>
                  </a:cubicBezTo>
                  <a:close/>
                </a:path>
              </a:pathLst>
            </a:custGeom>
            <a:solidFill>
              <a:srgbClr val="343434"/>
            </a:solidFill>
            <a:ln cap="rnd">
              <a:noFill/>
              <a:prstDash val="solid"/>
              <a:round/>
            </a:ln>
          </p:spPr>
        </p:sp>
        <p:sp>
          <p:nvSpPr>
            <p:cNvPr name="TextBox 17" id="17"/>
            <p:cNvSpPr txBox="true"/>
            <p:nvPr/>
          </p:nvSpPr>
          <p:spPr>
            <a:xfrm>
              <a:off x="0" y="19050"/>
              <a:ext cx="629907" cy="115357"/>
            </a:xfrm>
            <a:prstGeom prst="rect">
              <a:avLst/>
            </a:prstGeom>
          </p:spPr>
          <p:txBody>
            <a:bodyPr anchor="ctr" rtlCol="false" tIns="50800" lIns="50800" bIns="50800" rIns="50800"/>
            <a:lstStyle/>
            <a:p>
              <a:pPr algn="ctr" marL="0" indent="0" lvl="0">
                <a:lnSpc>
                  <a:spcPts val="1543"/>
                </a:lnSpc>
              </a:pPr>
            </a:p>
          </p:txBody>
        </p:sp>
      </p:grpSp>
      <p:sp>
        <p:nvSpPr>
          <p:cNvPr name="TextBox 18" id="18"/>
          <p:cNvSpPr txBox="true"/>
          <p:nvPr/>
        </p:nvSpPr>
        <p:spPr>
          <a:xfrm rot="0">
            <a:off x="13170554" y="325288"/>
            <a:ext cx="1987993" cy="192236"/>
          </a:xfrm>
          <a:prstGeom prst="rect">
            <a:avLst/>
          </a:prstGeom>
        </p:spPr>
        <p:txBody>
          <a:bodyPr anchor="t" rtlCol="false" tIns="0" lIns="0" bIns="0" rIns="0">
            <a:spAutoFit/>
          </a:bodyPr>
          <a:lstStyle/>
          <a:p>
            <a:pPr algn="ctr" marL="0" indent="0" lvl="0">
              <a:lnSpc>
                <a:spcPts val="1322"/>
              </a:lnSpc>
            </a:pPr>
            <a:r>
              <a:rPr lang="en-US" sz="1363">
                <a:solidFill>
                  <a:srgbClr val="FCFCFC"/>
                </a:solidFill>
                <a:latin typeface="Poppins"/>
                <a:ea typeface="Poppins"/>
                <a:cs typeface="Poppins"/>
                <a:sym typeface="Poppins"/>
              </a:rPr>
              <a:t>TP070844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DAHVvEvi-hk</dc:identifier>
  <dcterms:modified xsi:type="dcterms:W3CDTF">2011-08-01T06:04:30Z</dcterms:modified>
  <cp:revision>1</cp:revision>
  <dc:title>PhishGuard FYP Presentation</dc:title>
</cp:coreProperties>
</file>